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58a673-d247-53d0-12f4-92593f8daaaa}">
          <p14:sldIdLst>
            <p14:sldId id="256"/>
          </p14:sldIdLst>
        </p14:section>
        <p14:section name="Findings" id="{7d54d8c4-b897-c6f1-9ee6-71ea9a7401ab}">
          <p14:sldIdLst>
            <p14:sldId id="257"/>
            <p14:sldId id="258"/>
            <p14:sldId id="259"/>
            <p14:sldId id="260"/>
            <p14:sldId id="261"/>
          </p14:sldIdLst>
        </p14:section>
        <p14:section name="Action" id="{8c4a7c37-05d7-319c-63e3-89ce6f2d4ce8}">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Total defects, all five releases</a:t>
            </a:r>
          </a:p>
        </c:rich>
      </c:tx>
      <c:layout/>
      <c:overlay val="0"/>
    </c:title>
    <c:autoTitleDeleted val="0"/>
    <c:plotArea>
      <c:layout/>
      <c:barChart>
        <c:barDir val="bar"/>
        <c:grouping val="clustered"/>
        <c:varyColors val="0"/>
        <c:ser>
          <c:idx val="0"/>
          <c:order val="0"/>
          <c:tx>
            <c:strRef>
              <c:f>Sheet1!$B$1</c:f>
              <c:strCache>
                <c:ptCount val="1"/>
                <c:pt idx="0">
                  <c:v>Total defects</c:v>
                </c:pt>
              </c:strCache>
            </c:strRef>
          </c:tx>
          <c:spPr>
            <a:solidFill>
              <a:srgbClr val="E8590C"/>
            </a:solidFill>
            <a:effectLst/>
          </c:spPr>
          <c:invertIfNegative val="0"/>
          <c:dLbls>
            <c:numFmt formatCode="#,##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E8590C"/>
              </a:solidFill>
              <a:effectLst/>
            </c:spPr>
          </c:dPt>
          <c:dPt>
            <c:idx val="1"/>
            <c:invertIfNegative val="0"/>
            <c:bubble3D val="0"/>
            <c:spPr>
              <a:solidFill>
                <a:srgbClr val="E8590C"/>
              </a:solidFill>
              <a:effectLst/>
            </c:spPr>
          </c:dPt>
          <c:dPt>
            <c:idx val="2"/>
            <c:invertIfNegative val="0"/>
            <c:bubble3D val="0"/>
            <c:spPr>
              <a:solidFill>
                <a:srgbClr val="E8590C"/>
              </a:solidFill>
              <a:effectLst/>
            </c:spPr>
          </c:dPt>
          <c:dPt>
            <c:idx val="3"/>
            <c:invertIfNegative val="0"/>
            <c:bubble3D val="0"/>
            <c:spPr>
              <a:solidFill>
                <a:srgbClr val="E8590C"/>
              </a:solidFill>
              <a:effectLst/>
            </c:spPr>
          </c:dPt>
          <c:dPt>
            <c:idx val="4"/>
            <c:invertIfNegative val="0"/>
            <c:bubble3D val="0"/>
            <c:spPr>
              <a:solidFill>
                <a:srgbClr val="E8590C"/>
              </a:solidFill>
              <a:effectLst/>
            </c:spPr>
          </c:dPt>
          <c:dPt>
            <c:idx val="5"/>
            <c:invertIfNegative val="0"/>
            <c:bubble3D val="0"/>
            <c:spPr>
              <a:solidFill>
                <a:srgbClr val="E8590C"/>
              </a:solidFill>
              <a:effectLst/>
            </c:spPr>
          </c:dPt>
          <c:dPt>
            <c:idx val="6"/>
            <c:invertIfNegative val="0"/>
            <c:bubble3D val="0"/>
            <c:spPr>
              <a:solidFill>
                <a:srgbClr val="E8590C"/>
              </a:solidFill>
              <a:effectLst/>
            </c:spPr>
          </c:dPt>
          <c:dPt>
            <c:idx val="7"/>
            <c:invertIfNegative val="0"/>
            <c:bubble3D val="0"/>
            <c:spPr>
              <a:solidFill>
                <a:srgbClr val="E8590C"/>
              </a:solidFill>
              <a:effectLst/>
            </c:spPr>
          </c:dPt>
          <c:dPt>
            <c:idx val="8"/>
            <c:invertIfNegative val="0"/>
            <c:bubble3D val="0"/>
            <c:spPr>
              <a:solidFill>
                <a:srgbClr val="8A99A8"/>
              </a:solidFill>
              <a:effectLst/>
            </c:spPr>
          </c:dPt>
          <c:dPt>
            <c:idx val="9"/>
            <c:invertIfNegative val="0"/>
            <c:bubble3D val="0"/>
            <c:spPr>
              <a:solidFill>
                <a:srgbClr val="8A99A8"/>
              </a:solidFill>
              <a:effectLst/>
            </c:spPr>
          </c:dPt>
          <c:cat>
            <c:multiLvlStrRef>
              <c:f>Sheet1!$A$2:$A$11</c:f>
              <c:multiLvlStrCache>
                <c:ptCount val="10"/>
                <c:lvl>
                  <c:pt idx="0">
                    <c:v>api_gateway</c:v>
                  </c:pt>
                  <c:pt idx="1">
                    <c:v>ui_notifications</c:v>
                  </c:pt>
                  <c:pt idx="2">
                    <c:v>ui_themes</c:v>
                  </c:pt>
                  <c:pt idx="3">
                    <c:v>auth_session</c:v>
                  </c:pt>
                  <c:pt idx="4">
                    <c:v>payments_fraud</c:v>
                  </c:pt>
                  <c:pt idx="5">
                    <c:v>reporting_audit_logs</c:v>
                  </c:pt>
                  <c:pt idx="6">
                    <c:v>reporting_scheduler</c:v>
                  </c:pt>
                  <c:pt idx="7">
                    <c:v>database_migration</c:v>
                  </c:pt>
                  <c:pt idx="8">
                    <c:v>payments_invoice</c:v>
                  </c:pt>
                  <c:pt idx="9">
                    <c:v>database_replication</c:v>
                  </c:pt>
                </c:lvl>
              </c:multiLvlStrCache>
            </c:multiLvlStrRef>
          </c:cat>
          <c:val>
            <c:numRef>
              <c:f>Sheet1!$B$2:$B$11</c:f>
              <c:numCache>
                <c:formatCode>General</c:formatCode>
                <c:ptCount val="10"/>
                <c:pt idx="0">
                  <c:v>29</c:v>
                </c:pt>
                <c:pt idx="1">
                  <c:v>25</c:v>
                </c:pt>
                <c:pt idx="2">
                  <c:v>19</c:v>
                </c:pt>
                <c:pt idx="3">
                  <c:v>17</c:v>
                </c:pt>
                <c:pt idx="4">
                  <c:v>15</c:v>
                </c:pt>
                <c:pt idx="5">
                  <c:v>14</c:v>
                </c:pt>
                <c:pt idx="6">
                  <c:v>13</c:v>
                </c:pt>
                <c:pt idx="7">
                  <c:v>12</c:v>
                </c:pt>
                <c:pt idx="8">
                  <c:v>12</c:v>
                </c:pt>
                <c:pt idx="9">
                  <c:v>10</c:v>
                </c:pt>
              </c:numCache>
            </c:numRef>
          </c:val>
        </c:ser>
        <c:dLbls>
          <c:numFmt formatCode="#,##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3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Average defects per release, by code-churn quartile</a:t>
            </a:r>
          </a:p>
        </c:rich>
      </c:tx>
      <c:layout/>
      <c:overlay val="0"/>
    </c:title>
    <c:autoTitleDeleted val="0"/>
    <c:plotArea>
      <c:layout/>
      <c:barChart>
        <c:barDir val="col"/>
        <c:grouping val="clustered"/>
        <c:varyColors val="0"/>
        <c:ser>
          <c:idx val="0"/>
          <c:order val="0"/>
          <c:tx>
            <c:strRef>
              <c:f>Sheet1!$B$1</c:f>
              <c:strCache>
                <c:ptCount val="1"/>
                <c:pt idx="0">
                  <c:v>Average defects</c:v>
                </c:pt>
              </c:strCache>
            </c:strRef>
          </c:tx>
          <c:spPr>
            <a:solidFill>
              <a:srgbClr val="8A99A8"/>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8A99A8"/>
              </a:solidFill>
              <a:effectLst/>
            </c:spPr>
          </c:dPt>
          <c:dPt>
            <c:idx val="1"/>
            <c:invertIfNegative val="0"/>
            <c:bubble3D val="0"/>
            <c:spPr>
              <a:solidFill>
                <a:srgbClr val="8A99A8"/>
              </a:solidFill>
              <a:effectLst/>
            </c:spPr>
          </c:dPt>
          <c:dPt>
            <c:idx val="2"/>
            <c:invertIfNegative val="0"/>
            <c:bubble3D val="0"/>
            <c:spPr>
              <a:solidFill>
                <a:srgbClr val="8A99A8"/>
              </a:solidFill>
              <a:effectLst/>
            </c:spPr>
          </c:dPt>
          <c:dPt>
            <c:idx val="3"/>
            <c:invertIfNegative val="0"/>
            <c:bubble3D val="0"/>
            <c:spPr>
              <a:solidFill>
                <a:srgbClr val="E8590C"/>
              </a:solidFill>
              <a:effectLst/>
            </c:spPr>
          </c:dPt>
          <c:cat>
            <c:multiLvlStrRef>
              <c:f>Sheet1!$A$2:$A$5</c:f>
              <c:multiLvlStrCache>
                <c:ptCount val="4"/>
                <c:lvl>
                  <c:pt idx="0">
                    <c:v>Q1 lowest</c:v>
                  </c:pt>
                  <c:pt idx="1">
                    <c:v>Q2</c:v>
                  </c:pt>
                  <c:pt idx="2">
                    <c:v>Q3</c:v>
                  </c:pt>
                  <c:pt idx="3">
                    <c:v>Q4 highest</c:v>
                  </c:pt>
                </c:lvl>
              </c:multiLvlStrCache>
            </c:multiLvlStrRef>
          </c:cat>
          <c:val>
            <c:numRef>
              <c:f>Sheet1!$B$2:$B$5</c:f>
              <c:numCache>
                <c:formatCode>General</c:formatCode>
                <c:ptCount val="4"/>
                <c:pt idx="0">
                  <c:v>0.47</c:v>
                </c:pt>
                <c:pt idx="1">
                  <c:v>0.78</c:v>
                </c:pt>
                <c:pt idx="2">
                  <c:v>0.86</c:v>
                </c:pt>
                <c:pt idx="3">
                  <c:v>2.73</c:v>
                </c:pt>
              </c:numCache>
            </c:numRef>
          </c:val>
        </c:ser>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3.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Average defects per release, by test-coverage band</a:t>
            </a:r>
          </a:p>
        </c:rich>
      </c:tx>
      <c:layout/>
      <c:overlay val="0"/>
    </c:title>
    <c:autoTitleDeleted val="0"/>
    <c:plotArea>
      <c:layout/>
      <c:barChart>
        <c:barDir val="col"/>
        <c:grouping val="clustered"/>
        <c:varyColors val="0"/>
        <c:ser>
          <c:idx val="0"/>
          <c:order val="0"/>
          <c:tx>
            <c:strRef>
              <c:f>Sheet1!$B$1</c:f>
              <c:strCache>
                <c:ptCount val="1"/>
                <c:pt idx="0">
                  <c:v>Average defects</c:v>
                </c:pt>
              </c:strCache>
            </c:strRef>
          </c:tx>
          <c:spPr>
            <a:solidFill>
              <a:srgbClr val="E8590C"/>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E8590C"/>
              </a:solidFill>
              <a:effectLst/>
            </c:spPr>
          </c:dPt>
          <c:dPt>
            <c:idx val="1"/>
            <c:invertIfNegative val="0"/>
            <c:bubble3D val="0"/>
            <c:spPr>
              <a:solidFill>
                <a:srgbClr val="8A99A8"/>
              </a:solidFill>
              <a:effectLst/>
            </c:spPr>
          </c:dPt>
          <c:dPt>
            <c:idx val="2"/>
            <c:invertIfNegative val="0"/>
            <c:bubble3D val="0"/>
            <c:spPr>
              <a:solidFill>
                <a:srgbClr val="8A99A8"/>
              </a:solidFill>
              <a:effectLst/>
            </c:spPr>
          </c:dPt>
          <c:dPt>
            <c:idx val="3"/>
            <c:invertIfNegative val="0"/>
            <c:bubble3D val="0"/>
            <c:spPr>
              <a:solidFill>
                <a:srgbClr val="8A99A8"/>
              </a:solidFill>
              <a:effectLst/>
            </c:spPr>
          </c:dPt>
          <c:cat>
            <c:multiLvlStrRef>
              <c:f>Sheet1!$A$2:$A$5</c:f>
              <c:multiLvlStrCache>
                <c:ptCount val="4"/>
                <c:lvl>
                  <c:pt idx="0">
                    <c:v>Up to 40%</c:v>
                  </c:pt>
                  <c:pt idx="1">
                    <c:v>40-60%</c:v>
                  </c:pt>
                  <c:pt idx="2">
                    <c:v>60-80%</c:v>
                  </c:pt>
                  <c:pt idx="3">
                    <c:v>Above 80%</c:v>
                  </c:pt>
                </c:lvl>
              </c:multiLvlStrCache>
            </c:multiLvlStrRef>
          </c:cat>
          <c:val>
            <c:numRef>
              <c:f>Sheet1!$B$2:$B$5</c:f>
              <c:numCache>
                <c:formatCode>General</c:formatCode>
                <c:ptCount val="4"/>
                <c:pt idx="0">
                  <c:v>3.68</c:v>
                </c:pt>
                <c:pt idx="1">
                  <c:v>1.47</c:v>
                </c:pt>
                <c:pt idx="2">
                  <c:v>0.73</c:v>
                </c:pt>
                <c:pt idx="3">
                  <c:v>0.62</c:v>
                </c:pt>
              </c:numCache>
            </c:numRef>
          </c:val>
        </c:ser>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4.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Correlation of each metric with total defects</a:t>
            </a:r>
          </a:p>
        </c:rich>
      </c:tx>
      <c:layout/>
      <c:overlay val="0"/>
    </c:title>
    <c:autoTitleDeleted val="0"/>
    <c:plotArea>
      <c:layout/>
      <c:barChart>
        <c:barDir val="bar"/>
        <c:grouping val="clustered"/>
        <c:varyColors val="0"/>
        <c:ser>
          <c:idx val="0"/>
          <c:order val="0"/>
          <c:tx>
            <c:strRef>
              <c:f>Sheet1!$B$1</c:f>
              <c:strCache>
                <c:ptCount val="1"/>
                <c:pt idx="0">
                  <c:v>Correlation with defects</c:v>
                </c:pt>
              </c:strCache>
            </c:strRef>
          </c:tx>
          <c:spPr>
            <a:solidFill>
              <a:srgbClr val="E8590C"/>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E8590C"/>
              </a:solidFill>
              <a:effectLst/>
            </c:spPr>
          </c:dPt>
          <c:dPt>
            <c:idx val="1"/>
            <c:invertIfNegative val="0"/>
            <c:bubble3D val="0"/>
            <c:spPr>
              <a:solidFill>
                <a:srgbClr val="8A99A8"/>
              </a:solidFill>
              <a:effectLst/>
            </c:spPr>
          </c:dPt>
          <c:dPt>
            <c:idx val="2"/>
            <c:invertIfNegative val="0"/>
            <c:bubble3D val="0"/>
            <c:spPr>
              <a:solidFill>
                <a:srgbClr val="8A99A8"/>
              </a:solidFill>
              <a:effectLst/>
            </c:spPr>
          </c:dPt>
          <c:dPt>
            <c:idx val="3"/>
            <c:invertIfNegative val="0"/>
            <c:bubble3D val="0"/>
            <c:spPr>
              <a:solidFill>
                <a:srgbClr val="8A99A8"/>
              </a:solidFill>
              <a:effectLst/>
            </c:spPr>
          </c:dPt>
          <c:dPt>
            <c:idx val="4"/>
            <c:invertIfNegative val="0"/>
            <c:bubble3D val="0"/>
            <c:spPr>
              <a:solidFill>
                <a:srgbClr val="8A99A8"/>
              </a:solidFill>
              <a:effectLst/>
            </c:spPr>
          </c:dPt>
          <c:dPt>
            <c:idx val="5"/>
            <c:invertIfNegative val="0"/>
            <c:bubble3D val="0"/>
            <c:spPr>
              <a:solidFill>
                <a:srgbClr val="8A99A8"/>
              </a:solidFill>
              <a:effectLst/>
            </c:spPr>
          </c:dPt>
          <c:dPt>
            <c:idx val="6"/>
            <c:invertIfNegative val="0"/>
            <c:bubble3D val="0"/>
            <c:spPr>
              <a:solidFill>
                <a:srgbClr val="2F7D9A"/>
              </a:solidFill>
              <a:effectLst/>
            </c:spPr>
          </c:dPt>
          <c:cat>
            <c:multiLvlStrRef>
              <c:f>Sheet1!$A$2:$A$8</c:f>
              <c:multiLvlStrCache>
                <c:ptCount val="7"/>
                <c:lvl>
                  <c:pt idx="0">
                    <c:v>churn</c:v>
                  </c:pt>
                  <c:pt idx="1">
                    <c:v>commit_count</c:v>
                  </c:pt>
                  <c:pt idx="2">
                    <c:v>contributors</c:v>
                  </c:pt>
                  <c:pt idx="3">
                    <c:v>complexity</c:v>
                  </c:pt>
                  <c:pt idx="4">
                    <c:v>coupling</c:v>
                  </c:pt>
                  <c:pt idx="5">
                    <c:v>size</c:v>
                  </c:pt>
                  <c:pt idx="6">
                    <c:v>test_coverage</c:v>
                  </c:pt>
                </c:lvl>
              </c:multiLvlStrCache>
            </c:multiLvlStrRef>
          </c:cat>
          <c:val>
            <c:numRef>
              <c:f>Sheet1!$B$2:$B$8</c:f>
              <c:numCache>
                <c:formatCode>General</c:formatCode>
                <c:ptCount val="7"/>
                <c:pt idx="0">
                  <c:v>0.65</c:v>
                </c:pt>
                <c:pt idx="1">
                  <c:v>0.61</c:v>
                </c:pt>
                <c:pt idx="2">
                  <c:v>0.51</c:v>
                </c:pt>
                <c:pt idx="3">
                  <c:v>0.35</c:v>
                </c:pt>
                <c:pt idx="4">
                  <c:v>0.34</c:v>
                </c:pt>
                <c:pt idx="5">
                  <c:v>0.24</c:v>
                </c:pt>
                <c:pt idx="6">
                  <c:v>-0.39</c:v>
                </c:pt>
              </c:numCache>
            </c:numRef>
          </c:val>
        </c:ser>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0.85"/>
          <c:min val="-0.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Total defects per release, by component</a:t>
            </a:r>
          </a:p>
        </c:rich>
      </c:tx>
      <c:layout/>
      <c:overlay val="0"/>
    </c:title>
    <c:autoTitleDeleted val="0"/>
    <c:plotArea>
      <c:layout/>
      <c:lineChart>
        <c:varyColors val="0"/>
        <c:ser>
          <c:idx val="0"/>
          <c:order val="0"/>
          <c:tx>
            <c:strRef>
              <c:f>Sheet1!$B$1</c:f>
              <c:strCache>
                <c:ptCount val="1"/>
                <c:pt idx="0">
                  <c:v>UI</c:v>
                </c:pt>
              </c:strCache>
            </c:strRef>
          </c:tx>
          <c:spPr>
            <a:solidFill>
              <a:srgbClr val="E8590C"/>
            </a:solidFill>
            <a:ln w="31750" cap="flat">
              <a:solidFill>
                <a:srgbClr val="E8590C"/>
              </a:solidFill>
              <a:prstDash val="solid"/>
              <a:round/>
            </a:ln>
            <a:effectLst/>
          </c:spPr>
          <c:invertIfNegative val="0"/>
          <c:dLbls>
            <c:numFmt formatCode="#,##0" sourceLinked="0"/>
            <c:txPr>
              <a:bodyPr/>
              <a:lstStyle/>
              <a:p>
                <a:pPr>
                  <a:defRPr b="0" i="0" strike="noStrike" sz="1200" u="none">
                    <a:solidFill>
                      <a:srgbClr val="1B2430"/>
                    </a:solidFill>
                    <a:latin typeface="+mn-lt"/>
                  </a:defRPr>
                </a:pPr>
              </a:p>
            </c:txPr>
            <c:showLegendKey val="0"/>
            <c:showVal val="0"/>
            <c:showCatName val="0"/>
            <c:showSerName val="0"/>
            <c:showPercent val="0"/>
            <c:showBubbleSize val="0"/>
            <c:showLeaderLines val="0"/>
          </c:dLbls>
          <c:marker>
            <c:symbol val="circle"/>
            <c:size val="7"/>
            <c:spPr>
              <a:solidFill>
                <a:srgbClr val="E8590C"/>
              </a:solidFill>
              <a:ln w="9525" cap="flat">
                <a:solidFill>
                  <a:srgbClr val="E8590C"/>
                </a:solidFill>
                <a:prstDash val="solid"/>
                <a:round/>
              </a:ln>
              <a:effectLst/>
            </c:spPr>
          </c:marker>
          <c:cat>
            <c:multiLvlStrRef>
              <c:f>Sheet1!$A$2:$A$6</c:f>
              <c:multiLvlStrCache>
                <c:ptCount val="5"/>
                <c:lvl>
                  <c:pt idx="0">
                    <c:v>v1.0</c:v>
                  </c:pt>
                  <c:pt idx="1">
                    <c:v>v1.1</c:v>
                  </c:pt>
                  <c:pt idx="2">
                    <c:v>v2.0</c:v>
                  </c:pt>
                  <c:pt idx="3">
                    <c:v>v2.1</c:v>
                  </c:pt>
                  <c:pt idx="4">
                    <c:v>v3.0</c:v>
                  </c:pt>
                </c:lvl>
              </c:multiLvlStrCache>
            </c:multiLvlStrRef>
          </c:cat>
          <c:val>
            <c:numRef>
              <c:f>Sheet1!$B$2:$B$6</c:f>
              <c:numCache>
                <c:formatCode>General</c:formatCode>
                <c:ptCount val="5"/>
                <c:pt idx="0">
                  <c:v>27</c:v>
                </c:pt>
                <c:pt idx="1">
                  <c:v>16</c:v>
                </c:pt>
                <c:pt idx="2">
                  <c:v>10</c:v>
                </c:pt>
                <c:pt idx="3">
                  <c:v>7</c:v>
                </c:pt>
                <c:pt idx="4">
                  <c:v>10</c:v>
                </c:pt>
              </c:numCache>
            </c:numRef>
          </c:val>
          <c:smooth val="0"/>
        </c:ser>
        <c:ser>
          <c:idx val="1"/>
          <c:order val="1"/>
          <c:tx>
            <c:strRef>
              <c:f>Sheet1!$C$1</c:f>
              <c:strCache>
                <c:ptCount val="1"/>
                <c:pt idx="0">
                  <c:v>Payments</c:v>
                </c:pt>
              </c:strCache>
            </c:strRef>
          </c:tx>
          <c:spPr>
            <a:solidFill>
              <a:srgbClr val="6C5B7B"/>
            </a:solidFill>
            <a:ln w="31750" cap="flat">
              <a:solidFill>
                <a:srgbClr val="6C5B7B"/>
              </a:solidFill>
              <a:prstDash val="solid"/>
              <a:round/>
            </a:ln>
            <a:effectLst/>
          </c:spPr>
          <c:invertIfNegative val="0"/>
          <c:dLbls>
            <c:numFmt formatCode="#,##0" sourceLinked="0"/>
            <c:txPr>
              <a:bodyPr/>
              <a:lstStyle/>
              <a:p>
                <a:pPr>
                  <a:defRPr b="0" i="0" strike="noStrike" sz="1200" u="none">
                    <a:solidFill>
                      <a:srgbClr val="1B2430"/>
                    </a:solidFill>
                    <a:latin typeface="+mn-lt"/>
                  </a:defRPr>
                </a:pPr>
              </a:p>
            </c:txPr>
            <c:showLegendKey val="0"/>
            <c:showVal val="0"/>
            <c:showCatName val="0"/>
            <c:showSerName val="0"/>
            <c:showPercent val="0"/>
            <c:showBubbleSize val="0"/>
            <c:showLeaderLines val="0"/>
          </c:dLbls>
          <c:marker>
            <c:symbol val="circle"/>
            <c:size val="7"/>
            <c:spPr>
              <a:solidFill>
                <a:srgbClr val="6C5B7B"/>
              </a:solidFill>
              <a:ln w="9525" cap="flat">
                <a:solidFill>
                  <a:srgbClr val="6C5B7B"/>
                </a:solidFill>
                <a:prstDash val="solid"/>
                <a:round/>
              </a:ln>
              <a:effectLst/>
            </c:spPr>
          </c:marker>
          <c:cat>
            <c:multiLvlStrRef>
              <c:f>Sheet1!$A$2:$A$6</c:f>
              <c:multiLvlStrCache>
                <c:ptCount val="5"/>
                <c:lvl>
                  <c:pt idx="0">
                    <c:v>v1.0</c:v>
                  </c:pt>
                  <c:pt idx="1">
                    <c:v>v1.1</c:v>
                  </c:pt>
                  <c:pt idx="2">
                    <c:v>v2.0</c:v>
                  </c:pt>
                  <c:pt idx="3">
                    <c:v>v2.1</c:v>
                  </c:pt>
                  <c:pt idx="4">
                    <c:v>v3.0</c:v>
                  </c:pt>
                </c:lvl>
              </c:multiLvlStrCache>
            </c:multiLvlStrRef>
          </c:cat>
          <c:val>
            <c:numRef>
              <c:f>Sheet1!$C$2:$C$6</c:f>
              <c:numCache>
                <c:formatCode>General</c:formatCode>
                <c:ptCount val="5"/>
                <c:pt idx="0">
                  <c:v>19</c:v>
                </c:pt>
                <c:pt idx="1">
                  <c:v>11</c:v>
                </c:pt>
                <c:pt idx="2">
                  <c:v>11</c:v>
                </c:pt>
                <c:pt idx="3">
                  <c:v>3</c:v>
                </c:pt>
                <c:pt idx="4">
                  <c:v>11</c:v>
                </c:pt>
              </c:numCache>
            </c:numRef>
          </c:val>
          <c:smooth val="0"/>
        </c:ser>
        <c:ser>
          <c:idx val="2"/>
          <c:order val="2"/>
          <c:tx>
            <c:strRef>
              <c:f>Sheet1!$D$1</c:f>
              <c:strCache>
                <c:ptCount val="1"/>
                <c:pt idx="0">
                  <c:v>API</c:v>
                </c:pt>
              </c:strCache>
            </c:strRef>
          </c:tx>
          <c:spPr>
            <a:solidFill>
              <a:srgbClr val="2F7D9A"/>
            </a:solidFill>
            <a:ln w="31750" cap="flat">
              <a:solidFill>
                <a:srgbClr val="2F7D9A"/>
              </a:solidFill>
              <a:prstDash val="solid"/>
              <a:round/>
            </a:ln>
            <a:effectLst/>
          </c:spPr>
          <c:invertIfNegative val="0"/>
          <c:dLbls>
            <c:numFmt formatCode="#,##0" sourceLinked="0"/>
            <c:txPr>
              <a:bodyPr/>
              <a:lstStyle/>
              <a:p>
                <a:pPr>
                  <a:defRPr b="0" i="0" strike="noStrike" sz="1200" u="none">
                    <a:solidFill>
                      <a:srgbClr val="1B2430"/>
                    </a:solidFill>
                    <a:latin typeface="+mn-lt"/>
                  </a:defRPr>
                </a:pPr>
              </a:p>
            </c:txPr>
            <c:showLegendKey val="0"/>
            <c:showVal val="0"/>
            <c:showCatName val="0"/>
            <c:showSerName val="0"/>
            <c:showPercent val="0"/>
            <c:showBubbleSize val="0"/>
            <c:showLeaderLines val="0"/>
          </c:dLbls>
          <c:marker>
            <c:symbol val="circle"/>
            <c:size val="7"/>
            <c:spPr>
              <a:solidFill>
                <a:srgbClr val="2F7D9A"/>
              </a:solidFill>
              <a:ln w="9525" cap="flat">
                <a:solidFill>
                  <a:srgbClr val="2F7D9A"/>
                </a:solidFill>
                <a:prstDash val="solid"/>
                <a:round/>
              </a:ln>
              <a:effectLst/>
            </c:spPr>
          </c:marker>
          <c:cat>
            <c:multiLvlStrRef>
              <c:f>Sheet1!$A$2:$A$6</c:f>
              <c:multiLvlStrCache>
                <c:ptCount val="5"/>
                <c:lvl>
                  <c:pt idx="0">
                    <c:v>v1.0</c:v>
                  </c:pt>
                  <c:pt idx="1">
                    <c:v>v1.1</c:v>
                  </c:pt>
                  <c:pt idx="2">
                    <c:v>v2.0</c:v>
                  </c:pt>
                  <c:pt idx="3">
                    <c:v>v2.1</c:v>
                  </c:pt>
                  <c:pt idx="4">
                    <c:v>v3.0</c:v>
                  </c:pt>
                </c:lvl>
              </c:multiLvlStrCache>
            </c:multiLvlStrRef>
          </c:cat>
          <c:val>
            <c:numRef>
              <c:f>Sheet1!$D$2:$D$6</c:f>
              <c:numCache>
                <c:formatCode>General</c:formatCode>
                <c:ptCount val="5"/>
                <c:pt idx="0">
                  <c:v>17</c:v>
                </c:pt>
                <c:pt idx="1">
                  <c:v>3</c:v>
                </c:pt>
                <c:pt idx="2">
                  <c:v>12</c:v>
                </c:pt>
                <c:pt idx="3">
                  <c:v>3</c:v>
                </c:pt>
                <c:pt idx="4">
                  <c:v>15</c:v>
                </c:pt>
              </c:numCache>
            </c:numRef>
          </c:val>
          <c:smooth val="0"/>
        </c:ser>
        <c:ser>
          <c:idx val="3"/>
          <c:order val="3"/>
          <c:tx>
            <c:strRef>
              <c:f>Sheet1!$E$1</c:f>
              <c:strCache>
                <c:ptCount val="1"/>
                <c:pt idx="0">
                  <c:v>Reporting</c:v>
                </c:pt>
              </c:strCache>
            </c:strRef>
          </c:tx>
          <c:spPr>
            <a:solidFill>
              <a:srgbClr val="F2B134"/>
            </a:solidFill>
            <a:ln w="31750" cap="flat">
              <a:solidFill>
                <a:srgbClr val="F2B134"/>
              </a:solidFill>
              <a:prstDash val="solid"/>
              <a:round/>
            </a:ln>
            <a:effectLst/>
          </c:spPr>
          <c:invertIfNegative val="0"/>
          <c:dLbls>
            <c:numFmt formatCode="#,##0" sourceLinked="0"/>
            <c:txPr>
              <a:bodyPr/>
              <a:lstStyle/>
              <a:p>
                <a:pPr>
                  <a:defRPr b="0" i="0" strike="noStrike" sz="1200" u="none">
                    <a:solidFill>
                      <a:srgbClr val="1B2430"/>
                    </a:solidFill>
                    <a:latin typeface="+mn-lt"/>
                  </a:defRPr>
                </a:pPr>
              </a:p>
            </c:txPr>
            <c:showLegendKey val="0"/>
            <c:showVal val="0"/>
            <c:showCatName val="0"/>
            <c:showSerName val="0"/>
            <c:showPercent val="0"/>
            <c:showBubbleSize val="0"/>
            <c:showLeaderLines val="0"/>
          </c:dLbls>
          <c:marker>
            <c:symbol val="circle"/>
            <c:size val="7"/>
            <c:spPr>
              <a:solidFill>
                <a:srgbClr val="F2B134"/>
              </a:solidFill>
              <a:ln w="9525" cap="flat">
                <a:solidFill>
                  <a:srgbClr val="F2B134"/>
                </a:solidFill>
                <a:prstDash val="solid"/>
                <a:round/>
              </a:ln>
              <a:effectLst/>
            </c:spPr>
          </c:marker>
          <c:cat>
            <c:multiLvlStrRef>
              <c:f>Sheet1!$A$2:$A$6</c:f>
              <c:multiLvlStrCache>
                <c:ptCount val="5"/>
                <c:lvl>
                  <c:pt idx="0">
                    <c:v>v1.0</c:v>
                  </c:pt>
                  <c:pt idx="1">
                    <c:v>v1.1</c:v>
                  </c:pt>
                  <c:pt idx="2">
                    <c:v>v2.0</c:v>
                  </c:pt>
                  <c:pt idx="3">
                    <c:v>v2.1</c:v>
                  </c:pt>
                  <c:pt idx="4">
                    <c:v>v3.0</c:v>
                  </c:pt>
                </c:lvl>
              </c:multiLvlStrCache>
            </c:multiLvlStrRef>
          </c:cat>
          <c:val>
            <c:numRef>
              <c:f>Sheet1!$E$2:$E$6</c:f>
              <c:numCache>
                <c:formatCode>General</c:formatCode>
                <c:ptCount val="5"/>
                <c:pt idx="0">
                  <c:v>7</c:v>
                </c:pt>
                <c:pt idx="1">
                  <c:v>11</c:v>
                </c:pt>
                <c:pt idx="2">
                  <c:v>5</c:v>
                </c:pt>
                <c:pt idx="3">
                  <c:v>8</c:v>
                </c:pt>
                <c:pt idx="4">
                  <c:v>12</c:v>
                </c:pt>
              </c:numCache>
            </c:numRef>
          </c:val>
          <c:smooth val="0"/>
        </c:ser>
        <c:ser>
          <c:idx val="4"/>
          <c:order val="4"/>
          <c:tx>
            <c:strRef>
              <c:f>Sheet1!$F$1</c:f>
              <c:strCache>
                <c:ptCount val="1"/>
                <c:pt idx="0">
                  <c:v>Database</c:v>
                </c:pt>
              </c:strCache>
            </c:strRef>
          </c:tx>
          <c:spPr>
            <a:solidFill>
              <a:srgbClr val="3C9D6B"/>
            </a:solidFill>
            <a:ln w="31750" cap="flat">
              <a:solidFill>
                <a:srgbClr val="3C9D6B"/>
              </a:solidFill>
              <a:prstDash val="solid"/>
              <a:round/>
            </a:ln>
            <a:effectLst/>
          </c:spPr>
          <c:invertIfNegative val="0"/>
          <c:dLbls>
            <c:numFmt formatCode="#,##0" sourceLinked="0"/>
            <c:txPr>
              <a:bodyPr/>
              <a:lstStyle/>
              <a:p>
                <a:pPr>
                  <a:defRPr b="0" i="0" strike="noStrike" sz="1200" u="none">
                    <a:solidFill>
                      <a:srgbClr val="1B2430"/>
                    </a:solidFill>
                    <a:latin typeface="+mn-lt"/>
                  </a:defRPr>
                </a:pPr>
              </a:p>
            </c:txPr>
            <c:showLegendKey val="0"/>
            <c:showVal val="0"/>
            <c:showCatName val="0"/>
            <c:showSerName val="0"/>
            <c:showPercent val="0"/>
            <c:showBubbleSize val="0"/>
            <c:showLeaderLines val="0"/>
          </c:dLbls>
          <c:marker>
            <c:symbol val="circle"/>
            <c:size val="7"/>
            <c:spPr>
              <a:solidFill>
                <a:srgbClr val="3C9D6B"/>
              </a:solidFill>
              <a:ln w="9525" cap="flat">
                <a:solidFill>
                  <a:srgbClr val="3C9D6B"/>
                </a:solidFill>
                <a:prstDash val="solid"/>
                <a:round/>
              </a:ln>
              <a:effectLst/>
            </c:spPr>
          </c:marker>
          <c:cat>
            <c:multiLvlStrRef>
              <c:f>Sheet1!$A$2:$A$6</c:f>
              <c:multiLvlStrCache>
                <c:ptCount val="5"/>
                <c:lvl>
                  <c:pt idx="0">
                    <c:v>v1.0</c:v>
                  </c:pt>
                  <c:pt idx="1">
                    <c:v>v1.1</c:v>
                  </c:pt>
                  <c:pt idx="2">
                    <c:v>v2.0</c:v>
                  </c:pt>
                  <c:pt idx="3">
                    <c:v>v2.1</c:v>
                  </c:pt>
                  <c:pt idx="4">
                    <c:v>v3.0</c:v>
                  </c:pt>
                </c:lvl>
              </c:multiLvlStrCache>
            </c:multiLvlStrRef>
          </c:cat>
          <c:val>
            <c:numRef>
              <c:f>Sheet1!$F$2:$F$6</c:f>
              <c:numCache>
                <c:formatCode>General</c:formatCode>
                <c:ptCount val="5"/>
                <c:pt idx="0">
                  <c:v>8</c:v>
                </c:pt>
                <c:pt idx="1">
                  <c:v>8</c:v>
                </c:pt>
                <c:pt idx="2">
                  <c:v>6</c:v>
                </c:pt>
                <c:pt idx="3">
                  <c:v>7</c:v>
                </c:pt>
                <c:pt idx="4">
                  <c:v>7</c:v>
                </c:pt>
              </c:numCache>
            </c:numRef>
          </c:val>
          <c:smooth val="0"/>
        </c:ser>
        <c:ser>
          <c:idx val="5"/>
          <c:order val="5"/>
          <c:tx>
            <c:strRef>
              <c:f>Sheet1!$G$1</c:f>
              <c:strCache>
                <c:ptCount val="1"/>
                <c:pt idx="0">
                  <c:v>Auth</c:v>
                </c:pt>
              </c:strCache>
            </c:strRef>
          </c:tx>
          <c:spPr>
            <a:solidFill>
              <a:srgbClr val="8A99A8"/>
            </a:solidFill>
            <a:ln w="31750" cap="flat">
              <a:solidFill>
                <a:srgbClr val="8A99A8"/>
              </a:solidFill>
              <a:prstDash val="solid"/>
              <a:round/>
            </a:ln>
            <a:effectLst/>
          </c:spPr>
          <c:invertIfNegative val="0"/>
          <c:dLbls>
            <c:numFmt formatCode="#,##0" sourceLinked="0"/>
            <c:txPr>
              <a:bodyPr/>
              <a:lstStyle/>
              <a:p>
                <a:pPr>
                  <a:defRPr b="0" i="0" strike="noStrike" sz="1200" u="none">
                    <a:solidFill>
                      <a:srgbClr val="1B2430"/>
                    </a:solidFill>
                    <a:latin typeface="+mn-lt"/>
                  </a:defRPr>
                </a:pPr>
              </a:p>
            </c:txPr>
            <c:showLegendKey val="0"/>
            <c:showVal val="0"/>
            <c:showCatName val="0"/>
            <c:showSerName val="0"/>
            <c:showPercent val="0"/>
            <c:showBubbleSize val="0"/>
            <c:showLeaderLines val="0"/>
          </c:dLbls>
          <c:marker>
            <c:symbol val="circle"/>
            <c:size val="7"/>
            <c:spPr>
              <a:solidFill>
                <a:srgbClr val="8A99A8"/>
              </a:solidFill>
              <a:ln w="9525" cap="flat">
                <a:solidFill>
                  <a:srgbClr val="8A99A8"/>
                </a:solidFill>
                <a:prstDash val="solid"/>
                <a:round/>
              </a:ln>
              <a:effectLst/>
            </c:spPr>
          </c:marker>
          <c:cat>
            <c:multiLvlStrRef>
              <c:f>Sheet1!$A$2:$A$6</c:f>
              <c:multiLvlStrCache>
                <c:ptCount val="5"/>
                <c:lvl>
                  <c:pt idx="0">
                    <c:v>v1.0</c:v>
                  </c:pt>
                  <c:pt idx="1">
                    <c:v>v1.1</c:v>
                  </c:pt>
                  <c:pt idx="2">
                    <c:v>v2.0</c:v>
                  </c:pt>
                  <c:pt idx="3">
                    <c:v>v2.1</c:v>
                  </c:pt>
                  <c:pt idx="4">
                    <c:v>v3.0</c:v>
                  </c:pt>
                </c:lvl>
              </c:multiLvlStrCache>
            </c:multiLvlStrRef>
          </c:cat>
          <c:val>
            <c:numRef>
              <c:f>Sheet1!$G$2:$G$6</c:f>
              <c:numCache>
                <c:formatCode>General</c:formatCode>
                <c:ptCount val="5"/>
                <c:pt idx="0">
                  <c:v>10</c:v>
                </c:pt>
                <c:pt idx="1">
                  <c:v>4</c:v>
                </c:pt>
                <c:pt idx="2">
                  <c:v>6</c:v>
                </c:pt>
                <c:pt idx="3">
                  <c:v>9</c:v>
                </c:pt>
                <c:pt idx="4">
                  <c:v>2</c:v>
                </c:pt>
              </c:numCache>
            </c:numRef>
          </c:val>
          <c:smooth val="0"/>
        </c:ser>
        <c:dLbls>
          <c:numFmt formatCode="#,##0" sourceLinked="0"/>
          <c:txPr>
            <a:bodyPr/>
            <a:lstStyle/>
            <a:p>
              <a:pPr>
                <a:defRPr b="0" i="0" strike="noStrike" sz="1200" u="none">
                  <a:solidFill>
                    <a:srgbClr val="1B243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DDE3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5C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CodeMetric wants to know which software metrics are associated with modules that have more defects, so that code review and testing effort goes where it matters. The tiles show the answer I will build up to: 11 of 47 modules to fix first. Data is synthetic, generated with Python (seed 42) from the CH28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files were combined at the module-by-release level, 47 x 5 = 235 rows. The five injected quality problems were all handled: missing metrics, duplicates, inconsistent names, extreme complexity and unmatched defects. I say openly that the data is synthetic because the course supplied only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which modules have more defects. Defects are concentrated: ten modules, about a fifth of the portfolio, hold 58.2% of defects. Eight of them are Tier 1 modules. They also have clearly lower test coverage than the rest. UI is the worst component by total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and Q4. Churn is the strongest single signal: the top quartile averages 2.73 defects per release against 0.47 in the bottom quartile. Test coverage works the other way: rows with coverage up to 40% average 3.68 defects, against 0.62 above 80%. Business meaning: below 60% coverage, or above about 400 changed lines in a release, defect risk rises sharply. These are associations in synthetic data,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and Q6. Complexity has a threshold effect: defects only climb in the top half. Contributor count looks related to defects, but it is mostly activity volume: contributors correlate 0.88 with commits and 0.79 with churn, and the Random Forest gives it no extra value once churn is included. So manage risk through change volume and review, not by capping team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Repeat-defect modules are those with defects in four or more of the five releases: 16 of 47. UI has the most repeat modules. Defects fell until v2.1 but rebounded in v3.0, led by Reporting and API. Database never spikes but never improves either, so it needs a systematic fix rather than release-by-release firefighting.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focus: code-review and testing priorities for modules with repeated quality concerns. Tier 1 combines repeat-defect history with the two risk rules from the analysis. The three cards say what each module needs: both review and tests, mainly review (high churn but coverage is fine), or mainly tests (low coverage). The model is a ranking aid: moderate fit, so combine it with defect history, which is what the tiers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actions: mandatory review and coverage target for Tier 1; a churn trigger around 400 changed lines per release; and release-by-release tracking of the 16 repeat modules, with a systematic fix for Database. Next step: validate on real defect history and re-score the modules after every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4572000" cy="17373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743200"/>
            <a:ext cx="4480560" cy="91440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54880"/>
            <a:ext cx="5943600" cy="228600"/>
          </a:xfrm>
          <a:prstGeom prst="rect">
            <a:avLst/>
          </a:prstGeom>
          <a:noFill/>
          <a:ln/>
        </p:spPr>
        <p:txBody>
          <a:bodyPr wrap="square" lIns="0" tIns="0" rIns="0" bIns="0" rtlCol="0" anchor="ctr"/>
          <a:lstStyle/>
          <a:p>
            <a:pPr indent="0" marL="0">
              <a:buNone/>
            </a:pPr>
            <a:r>
              <a:rPr lang="en-US" sz="1000" dirty="0">
                <a:solidFill>
                  <a:schemeClr val="accent3"/>
                </a:solidFill>
              </a:rPr>
              <a:t>CH28 Software Quality Insight  |  CodeMetric Software Labs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4572000" cy="1737360"/>
          </a:xfrm>
          <a:prstGeom prst="rect">
            <a:avLst/>
          </a:prstGeom>
          <a:noFill/>
          <a:ln/>
        </p:spPr>
        <p:txBody>
          <a:bodyPr wrap="square" lIns="0" tIns="0" rIns="0" bIns="0" rtlCol="0" anchor="t"/>
          <a:lstStyle/>
          <a:p>
            <a:pPr algn="l" indent="0" marL="0">
              <a:buNone/>
            </a:pPr>
            <a:r>
              <a:rPr lang="en-US" sz="3800" b="1" dirty="0">
                <a:solidFill>
                  <a:schemeClr val="bg1"/>
                </a:solidFill>
              </a:rPr>
              <a:t>Where should we review and test first?</a:t>
            </a:r>
            <a:endParaRPr lang="en-US" sz="3800" dirty="0"/>
          </a:p>
        </p:txBody>
      </p:sp>
      <p:sp>
        <p:nvSpPr>
          <p:cNvPr id="3" name="Text 0"/>
          <p:cNvSpPr/>
          <p:nvPr>
            <p:ph idx="101" type="body" hasCustomPrompt="1"/>
          </p:nvPr>
        </p:nvSpPr>
        <p:spPr>
          <a:xfrm>
            <a:off x="548640" y="2743200"/>
            <a:ext cx="4480560" cy="914400"/>
          </a:xfrm>
          <a:prstGeom prst="rect">
            <a:avLst/>
          </a:prstGeom>
          <a:noFill/>
          <a:ln/>
        </p:spPr>
        <p:txBody>
          <a:bodyPr wrap="square" lIns="0" tIns="0" rIns="0" bIns="0" rtlCol="0" anchor="t"/>
          <a:lstStyle/>
          <a:p>
            <a:pPr algn="l" indent="0" marL="0">
              <a:buNone/>
            </a:pPr>
            <a:r>
              <a:rPr lang="en-US" sz="1600" dirty="0">
                <a:solidFill>
                  <a:schemeClr val="bg2"/>
                </a:solidFill>
              </a:rPr>
              <a:t>CH28 Software Quality Insight: which software metrics go with modules that have more defects</a:t>
            </a:r>
            <a:endParaRPr lang="en-US" sz="1600" dirty="0"/>
          </a:p>
        </p:txBody>
      </p:sp>
      <p:sp>
        <p:nvSpPr>
          <p:cNvPr id="4" name="Presenter"/>
          <p:cNvSpPr txBox="1"/>
          <p:nvPr/>
        </p:nvSpPr>
        <p:spPr>
          <a:xfrm>
            <a:off x="548640" y="4114800"/>
            <a:ext cx="4754880" cy="548640"/>
          </a:xfrm>
          <a:prstGeom prst="rect">
            <a:avLst/>
          </a:prstGeom>
          <a:noFill/>
          <a:ln/>
        </p:spPr>
        <p:txBody>
          <a:bodyPr wrap="square" lIns="0" tIns="0" rIns="0" bIns="0" rtlCol="0" anchor="ctr"/>
          <a:lstStyle/>
          <a:p>
            <a:pPr indent="0" marL="0">
              <a:buNone/>
            </a:pPr>
            <a:r>
              <a:rPr lang="en-US" sz="1200" dirty="0">
                <a:solidFill>
                  <a:schemeClr val="accent3"/>
                </a:solidFill>
              </a:rPr>
              <a:t>Niket Kumar  |  Register No. 722824104158</a:t>
            </a:r>
            <a:endParaRPr lang="en-US" sz="1200" dirty="0"/>
          </a:p>
          <a:p>
            <a:pPr indent="0" marL="0">
              <a:buNone/>
            </a:pPr>
            <a:r>
              <a:rPr lang="en-US" sz="1200" dirty="0">
                <a:solidFill>
                  <a:schemeClr val="accent3"/>
                </a:solidFill>
              </a:rPr>
              <a:t>U23AD491 Data Science, DS Sprint Skill Based Assessment 2</a:t>
            </a:r>
            <a:endParaRPr lang="en-US" sz="1200" dirty="0"/>
          </a:p>
        </p:txBody>
      </p:sp>
      <p:sp>
        <p:nvSpPr>
          <p:cNvPr id="5" name="module tile 1"/>
          <p:cNvSpPr/>
          <p:nvPr/>
        </p:nvSpPr>
        <p:spPr>
          <a:xfrm>
            <a:off x="5623560" y="1234440"/>
            <a:ext cx="329184" cy="329184"/>
          </a:xfrm>
          <a:prstGeom prst="roundRect">
            <a:avLst>
              <a:gd name="adj" fmla="val 13889"/>
            </a:avLst>
          </a:prstGeom>
          <a:solidFill>
            <a:schemeClr val="accent1"/>
          </a:solidFill>
          <a:ln/>
        </p:spPr>
      </p:sp>
      <p:sp>
        <p:nvSpPr>
          <p:cNvPr id="6" name="module tile 2"/>
          <p:cNvSpPr/>
          <p:nvPr/>
        </p:nvSpPr>
        <p:spPr>
          <a:xfrm>
            <a:off x="6025896" y="1234440"/>
            <a:ext cx="329184" cy="329184"/>
          </a:xfrm>
          <a:prstGeom prst="roundRect">
            <a:avLst>
              <a:gd name="adj" fmla="val 13889"/>
            </a:avLst>
          </a:prstGeom>
          <a:solidFill>
            <a:schemeClr val="accent1"/>
          </a:solidFill>
          <a:ln/>
        </p:spPr>
      </p:sp>
      <p:sp>
        <p:nvSpPr>
          <p:cNvPr id="7" name="module tile 3"/>
          <p:cNvSpPr/>
          <p:nvPr/>
        </p:nvSpPr>
        <p:spPr>
          <a:xfrm>
            <a:off x="6428232" y="1234440"/>
            <a:ext cx="329184" cy="329184"/>
          </a:xfrm>
          <a:prstGeom prst="roundRect">
            <a:avLst>
              <a:gd name="adj" fmla="val 13889"/>
            </a:avLst>
          </a:prstGeom>
          <a:solidFill>
            <a:schemeClr val="accent1"/>
          </a:solidFill>
          <a:ln/>
        </p:spPr>
      </p:sp>
      <p:sp>
        <p:nvSpPr>
          <p:cNvPr id="8" name="module tile 4"/>
          <p:cNvSpPr/>
          <p:nvPr/>
        </p:nvSpPr>
        <p:spPr>
          <a:xfrm>
            <a:off x="6830568" y="1234440"/>
            <a:ext cx="329184" cy="329184"/>
          </a:xfrm>
          <a:prstGeom prst="roundRect">
            <a:avLst>
              <a:gd name="adj" fmla="val 13889"/>
            </a:avLst>
          </a:prstGeom>
          <a:solidFill>
            <a:schemeClr val="accent1"/>
          </a:solidFill>
          <a:ln/>
        </p:spPr>
      </p:sp>
      <p:sp>
        <p:nvSpPr>
          <p:cNvPr id="9" name="module tile 5"/>
          <p:cNvSpPr/>
          <p:nvPr/>
        </p:nvSpPr>
        <p:spPr>
          <a:xfrm>
            <a:off x="7232904" y="1234440"/>
            <a:ext cx="329184" cy="329184"/>
          </a:xfrm>
          <a:prstGeom prst="roundRect">
            <a:avLst>
              <a:gd name="adj" fmla="val 13889"/>
            </a:avLst>
          </a:prstGeom>
          <a:solidFill>
            <a:schemeClr val="accent1"/>
          </a:solidFill>
          <a:ln/>
        </p:spPr>
      </p:sp>
      <p:sp>
        <p:nvSpPr>
          <p:cNvPr id="10" name="module tile 6"/>
          <p:cNvSpPr/>
          <p:nvPr/>
        </p:nvSpPr>
        <p:spPr>
          <a:xfrm>
            <a:off x="7635240" y="1234440"/>
            <a:ext cx="329184" cy="329184"/>
          </a:xfrm>
          <a:prstGeom prst="roundRect">
            <a:avLst>
              <a:gd name="adj" fmla="val 13889"/>
            </a:avLst>
          </a:prstGeom>
          <a:solidFill>
            <a:schemeClr val="accent1"/>
          </a:solidFill>
          <a:ln/>
        </p:spPr>
      </p:sp>
      <p:sp>
        <p:nvSpPr>
          <p:cNvPr id="11" name="module tile 7"/>
          <p:cNvSpPr/>
          <p:nvPr/>
        </p:nvSpPr>
        <p:spPr>
          <a:xfrm>
            <a:off x="8037576" y="1234440"/>
            <a:ext cx="329184" cy="329184"/>
          </a:xfrm>
          <a:prstGeom prst="roundRect">
            <a:avLst>
              <a:gd name="adj" fmla="val 13889"/>
            </a:avLst>
          </a:prstGeom>
          <a:solidFill>
            <a:schemeClr val="accent1"/>
          </a:solidFill>
          <a:ln/>
        </p:spPr>
      </p:sp>
      <p:sp>
        <p:nvSpPr>
          <p:cNvPr id="12" name="module tile 8"/>
          <p:cNvSpPr/>
          <p:nvPr/>
        </p:nvSpPr>
        <p:spPr>
          <a:xfrm>
            <a:off x="8439912" y="1234440"/>
            <a:ext cx="329184" cy="329184"/>
          </a:xfrm>
          <a:prstGeom prst="roundRect">
            <a:avLst>
              <a:gd name="adj" fmla="val 13889"/>
            </a:avLst>
          </a:prstGeom>
          <a:solidFill>
            <a:schemeClr val="accent1"/>
          </a:solidFill>
          <a:ln/>
        </p:spPr>
      </p:sp>
      <p:sp>
        <p:nvSpPr>
          <p:cNvPr id="13" name="module tile 9"/>
          <p:cNvSpPr/>
          <p:nvPr/>
        </p:nvSpPr>
        <p:spPr>
          <a:xfrm>
            <a:off x="5623560" y="1636776"/>
            <a:ext cx="329184" cy="329184"/>
          </a:xfrm>
          <a:prstGeom prst="roundRect">
            <a:avLst>
              <a:gd name="adj" fmla="val 13889"/>
            </a:avLst>
          </a:prstGeom>
          <a:solidFill>
            <a:schemeClr val="accent1"/>
          </a:solidFill>
          <a:ln/>
        </p:spPr>
      </p:sp>
      <p:sp>
        <p:nvSpPr>
          <p:cNvPr id="14" name="module tile 10"/>
          <p:cNvSpPr/>
          <p:nvPr/>
        </p:nvSpPr>
        <p:spPr>
          <a:xfrm>
            <a:off x="6025896" y="1636776"/>
            <a:ext cx="329184" cy="329184"/>
          </a:xfrm>
          <a:prstGeom prst="roundRect">
            <a:avLst>
              <a:gd name="adj" fmla="val 13889"/>
            </a:avLst>
          </a:prstGeom>
          <a:solidFill>
            <a:schemeClr val="accent1"/>
          </a:solidFill>
          <a:ln/>
        </p:spPr>
      </p:sp>
      <p:sp>
        <p:nvSpPr>
          <p:cNvPr id="15" name="module tile 11"/>
          <p:cNvSpPr/>
          <p:nvPr/>
        </p:nvSpPr>
        <p:spPr>
          <a:xfrm>
            <a:off x="6428232" y="1636776"/>
            <a:ext cx="329184" cy="329184"/>
          </a:xfrm>
          <a:prstGeom prst="roundRect">
            <a:avLst>
              <a:gd name="adj" fmla="val 13889"/>
            </a:avLst>
          </a:prstGeom>
          <a:solidFill>
            <a:schemeClr val="accent1"/>
          </a:solidFill>
          <a:ln/>
        </p:spPr>
      </p:sp>
      <p:sp>
        <p:nvSpPr>
          <p:cNvPr id="16" name="module tile 12"/>
          <p:cNvSpPr/>
          <p:nvPr/>
        </p:nvSpPr>
        <p:spPr>
          <a:xfrm>
            <a:off x="6830568" y="1636776"/>
            <a:ext cx="329184" cy="329184"/>
          </a:xfrm>
          <a:prstGeom prst="roundRect">
            <a:avLst>
              <a:gd name="adj" fmla="val 13889"/>
            </a:avLst>
          </a:prstGeom>
          <a:solidFill>
            <a:schemeClr val="accent4"/>
          </a:solidFill>
          <a:ln/>
        </p:spPr>
      </p:sp>
      <p:sp>
        <p:nvSpPr>
          <p:cNvPr id="17" name="module tile 13"/>
          <p:cNvSpPr/>
          <p:nvPr/>
        </p:nvSpPr>
        <p:spPr>
          <a:xfrm>
            <a:off x="7232904" y="1636776"/>
            <a:ext cx="329184" cy="329184"/>
          </a:xfrm>
          <a:prstGeom prst="roundRect">
            <a:avLst>
              <a:gd name="adj" fmla="val 13889"/>
            </a:avLst>
          </a:prstGeom>
          <a:solidFill>
            <a:schemeClr val="accent4"/>
          </a:solidFill>
          <a:ln/>
        </p:spPr>
      </p:sp>
      <p:sp>
        <p:nvSpPr>
          <p:cNvPr id="18" name="module tile 14"/>
          <p:cNvSpPr/>
          <p:nvPr/>
        </p:nvSpPr>
        <p:spPr>
          <a:xfrm>
            <a:off x="7635240" y="1636776"/>
            <a:ext cx="329184" cy="329184"/>
          </a:xfrm>
          <a:prstGeom prst="roundRect">
            <a:avLst>
              <a:gd name="adj" fmla="val 13889"/>
            </a:avLst>
          </a:prstGeom>
          <a:solidFill>
            <a:schemeClr val="accent4"/>
          </a:solidFill>
          <a:ln/>
        </p:spPr>
      </p:sp>
      <p:sp>
        <p:nvSpPr>
          <p:cNvPr id="19" name="module tile 15"/>
          <p:cNvSpPr/>
          <p:nvPr/>
        </p:nvSpPr>
        <p:spPr>
          <a:xfrm>
            <a:off x="8037576" y="1636776"/>
            <a:ext cx="329184" cy="329184"/>
          </a:xfrm>
          <a:prstGeom prst="roundRect">
            <a:avLst>
              <a:gd name="adj" fmla="val 13889"/>
            </a:avLst>
          </a:prstGeom>
          <a:solidFill>
            <a:schemeClr val="accent4"/>
          </a:solidFill>
          <a:ln/>
        </p:spPr>
      </p:sp>
      <p:sp>
        <p:nvSpPr>
          <p:cNvPr id="20" name="module tile 16"/>
          <p:cNvSpPr/>
          <p:nvPr/>
        </p:nvSpPr>
        <p:spPr>
          <a:xfrm>
            <a:off x="8439912" y="1636776"/>
            <a:ext cx="329184" cy="329184"/>
          </a:xfrm>
          <a:prstGeom prst="roundRect">
            <a:avLst>
              <a:gd name="adj" fmla="val 13889"/>
            </a:avLst>
          </a:prstGeom>
          <a:solidFill>
            <a:schemeClr val="accent4"/>
          </a:solidFill>
          <a:ln/>
        </p:spPr>
      </p:sp>
      <p:sp>
        <p:nvSpPr>
          <p:cNvPr id="21" name="module tile 17"/>
          <p:cNvSpPr/>
          <p:nvPr/>
        </p:nvSpPr>
        <p:spPr>
          <a:xfrm>
            <a:off x="5623560" y="2039112"/>
            <a:ext cx="329184" cy="329184"/>
          </a:xfrm>
          <a:prstGeom prst="roundRect">
            <a:avLst>
              <a:gd name="adj" fmla="val 13889"/>
            </a:avLst>
          </a:prstGeom>
          <a:solidFill>
            <a:schemeClr val="accent4"/>
          </a:solidFill>
          <a:ln/>
        </p:spPr>
      </p:sp>
      <p:sp>
        <p:nvSpPr>
          <p:cNvPr id="22" name="module tile 18"/>
          <p:cNvSpPr/>
          <p:nvPr/>
        </p:nvSpPr>
        <p:spPr>
          <a:xfrm>
            <a:off x="6025896" y="2039112"/>
            <a:ext cx="329184" cy="329184"/>
          </a:xfrm>
          <a:prstGeom prst="roundRect">
            <a:avLst>
              <a:gd name="adj" fmla="val 13889"/>
            </a:avLst>
          </a:prstGeom>
          <a:solidFill>
            <a:schemeClr val="accent4"/>
          </a:solidFill>
          <a:ln/>
        </p:spPr>
      </p:sp>
      <p:sp>
        <p:nvSpPr>
          <p:cNvPr id="23" name="module tile 19"/>
          <p:cNvSpPr/>
          <p:nvPr/>
        </p:nvSpPr>
        <p:spPr>
          <a:xfrm>
            <a:off x="6428232" y="2039112"/>
            <a:ext cx="329184" cy="329184"/>
          </a:xfrm>
          <a:prstGeom prst="roundRect">
            <a:avLst>
              <a:gd name="adj" fmla="val 13889"/>
            </a:avLst>
          </a:prstGeom>
          <a:solidFill>
            <a:schemeClr val="accent4"/>
          </a:solidFill>
          <a:ln/>
        </p:spPr>
      </p:sp>
      <p:sp>
        <p:nvSpPr>
          <p:cNvPr id="24" name="module tile 20"/>
          <p:cNvSpPr/>
          <p:nvPr/>
        </p:nvSpPr>
        <p:spPr>
          <a:xfrm>
            <a:off x="6830568" y="2039112"/>
            <a:ext cx="329184" cy="329184"/>
          </a:xfrm>
          <a:prstGeom prst="roundRect">
            <a:avLst>
              <a:gd name="adj" fmla="val 13889"/>
            </a:avLst>
          </a:prstGeom>
          <a:solidFill>
            <a:schemeClr val="accent4"/>
          </a:solidFill>
          <a:ln/>
        </p:spPr>
      </p:sp>
      <p:sp>
        <p:nvSpPr>
          <p:cNvPr id="25" name="module tile 21"/>
          <p:cNvSpPr/>
          <p:nvPr/>
        </p:nvSpPr>
        <p:spPr>
          <a:xfrm>
            <a:off x="7232904" y="2039112"/>
            <a:ext cx="329184" cy="329184"/>
          </a:xfrm>
          <a:prstGeom prst="roundRect">
            <a:avLst>
              <a:gd name="adj" fmla="val 13889"/>
            </a:avLst>
          </a:prstGeom>
          <a:solidFill>
            <a:schemeClr val="accent4"/>
          </a:solidFill>
          <a:ln/>
        </p:spPr>
      </p:sp>
      <p:sp>
        <p:nvSpPr>
          <p:cNvPr id="26" name="module tile 22"/>
          <p:cNvSpPr/>
          <p:nvPr/>
        </p:nvSpPr>
        <p:spPr>
          <a:xfrm>
            <a:off x="7635240" y="2039112"/>
            <a:ext cx="329184" cy="329184"/>
          </a:xfrm>
          <a:prstGeom prst="roundRect">
            <a:avLst>
              <a:gd name="adj" fmla="val 13889"/>
            </a:avLst>
          </a:prstGeom>
          <a:solidFill>
            <a:schemeClr val="accent4"/>
          </a:solidFill>
          <a:ln/>
        </p:spPr>
      </p:sp>
      <p:sp>
        <p:nvSpPr>
          <p:cNvPr id="27" name="module tile 23"/>
          <p:cNvSpPr/>
          <p:nvPr/>
        </p:nvSpPr>
        <p:spPr>
          <a:xfrm>
            <a:off x="8037576" y="2039112"/>
            <a:ext cx="329184" cy="329184"/>
          </a:xfrm>
          <a:prstGeom prst="roundRect">
            <a:avLst>
              <a:gd name="adj" fmla="val 13889"/>
            </a:avLst>
          </a:prstGeom>
          <a:solidFill>
            <a:schemeClr val="accent4"/>
          </a:solidFill>
          <a:ln/>
        </p:spPr>
      </p:sp>
      <p:sp>
        <p:nvSpPr>
          <p:cNvPr id="28" name="module tile 24"/>
          <p:cNvSpPr/>
          <p:nvPr/>
        </p:nvSpPr>
        <p:spPr>
          <a:xfrm>
            <a:off x="8439912" y="2039112"/>
            <a:ext cx="329184" cy="329184"/>
          </a:xfrm>
          <a:prstGeom prst="roundRect">
            <a:avLst>
              <a:gd name="adj" fmla="val 13889"/>
            </a:avLst>
          </a:prstGeom>
          <a:solidFill>
            <a:schemeClr val="accent4"/>
          </a:solidFill>
          <a:ln/>
        </p:spPr>
      </p:sp>
      <p:sp>
        <p:nvSpPr>
          <p:cNvPr id="29" name="module tile 25"/>
          <p:cNvSpPr/>
          <p:nvPr/>
        </p:nvSpPr>
        <p:spPr>
          <a:xfrm>
            <a:off x="5623560" y="2441448"/>
            <a:ext cx="329184" cy="329184"/>
          </a:xfrm>
          <a:prstGeom prst="roundRect">
            <a:avLst>
              <a:gd name="adj" fmla="val 13889"/>
            </a:avLst>
          </a:prstGeom>
          <a:solidFill>
            <a:schemeClr val="accent3">
              <a:alpha val="45000"/>
            </a:schemeClr>
          </a:solidFill>
          <a:ln/>
        </p:spPr>
      </p:sp>
      <p:sp>
        <p:nvSpPr>
          <p:cNvPr id="30" name="module tile 26"/>
          <p:cNvSpPr/>
          <p:nvPr/>
        </p:nvSpPr>
        <p:spPr>
          <a:xfrm>
            <a:off x="6025896" y="2441448"/>
            <a:ext cx="329184" cy="329184"/>
          </a:xfrm>
          <a:prstGeom prst="roundRect">
            <a:avLst>
              <a:gd name="adj" fmla="val 13889"/>
            </a:avLst>
          </a:prstGeom>
          <a:solidFill>
            <a:schemeClr val="accent3">
              <a:alpha val="45000"/>
            </a:schemeClr>
          </a:solidFill>
          <a:ln/>
        </p:spPr>
      </p:sp>
      <p:sp>
        <p:nvSpPr>
          <p:cNvPr id="31" name="module tile 27"/>
          <p:cNvSpPr/>
          <p:nvPr/>
        </p:nvSpPr>
        <p:spPr>
          <a:xfrm>
            <a:off x="6428232" y="2441448"/>
            <a:ext cx="329184" cy="329184"/>
          </a:xfrm>
          <a:prstGeom prst="roundRect">
            <a:avLst>
              <a:gd name="adj" fmla="val 13889"/>
            </a:avLst>
          </a:prstGeom>
          <a:solidFill>
            <a:schemeClr val="accent3">
              <a:alpha val="45000"/>
            </a:schemeClr>
          </a:solidFill>
          <a:ln/>
        </p:spPr>
      </p:sp>
      <p:sp>
        <p:nvSpPr>
          <p:cNvPr id="32" name="module tile 28"/>
          <p:cNvSpPr/>
          <p:nvPr/>
        </p:nvSpPr>
        <p:spPr>
          <a:xfrm>
            <a:off x="6830568" y="2441448"/>
            <a:ext cx="329184" cy="329184"/>
          </a:xfrm>
          <a:prstGeom prst="roundRect">
            <a:avLst>
              <a:gd name="adj" fmla="val 13889"/>
            </a:avLst>
          </a:prstGeom>
          <a:solidFill>
            <a:schemeClr val="accent3">
              <a:alpha val="45000"/>
            </a:schemeClr>
          </a:solidFill>
          <a:ln/>
        </p:spPr>
      </p:sp>
      <p:sp>
        <p:nvSpPr>
          <p:cNvPr id="33" name="module tile 29"/>
          <p:cNvSpPr/>
          <p:nvPr/>
        </p:nvSpPr>
        <p:spPr>
          <a:xfrm>
            <a:off x="7232904" y="2441448"/>
            <a:ext cx="329184" cy="329184"/>
          </a:xfrm>
          <a:prstGeom prst="roundRect">
            <a:avLst>
              <a:gd name="adj" fmla="val 13889"/>
            </a:avLst>
          </a:prstGeom>
          <a:solidFill>
            <a:schemeClr val="accent3">
              <a:alpha val="45000"/>
            </a:schemeClr>
          </a:solidFill>
          <a:ln/>
        </p:spPr>
      </p:sp>
      <p:sp>
        <p:nvSpPr>
          <p:cNvPr id="34" name="module tile 30"/>
          <p:cNvSpPr/>
          <p:nvPr/>
        </p:nvSpPr>
        <p:spPr>
          <a:xfrm>
            <a:off x="7635240" y="2441448"/>
            <a:ext cx="329184" cy="329184"/>
          </a:xfrm>
          <a:prstGeom prst="roundRect">
            <a:avLst>
              <a:gd name="adj" fmla="val 13889"/>
            </a:avLst>
          </a:prstGeom>
          <a:solidFill>
            <a:schemeClr val="accent3">
              <a:alpha val="45000"/>
            </a:schemeClr>
          </a:solidFill>
          <a:ln/>
        </p:spPr>
      </p:sp>
      <p:sp>
        <p:nvSpPr>
          <p:cNvPr id="35" name="module tile 31"/>
          <p:cNvSpPr/>
          <p:nvPr/>
        </p:nvSpPr>
        <p:spPr>
          <a:xfrm>
            <a:off x="8037576" y="2441448"/>
            <a:ext cx="329184" cy="329184"/>
          </a:xfrm>
          <a:prstGeom prst="roundRect">
            <a:avLst>
              <a:gd name="adj" fmla="val 13889"/>
            </a:avLst>
          </a:prstGeom>
          <a:solidFill>
            <a:schemeClr val="accent3">
              <a:alpha val="45000"/>
            </a:schemeClr>
          </a:solidFill>
          <a:ln/>
        </p:spPr>
      </p:sp>
      <p:sp>
        <p:nvSpPr>
          <p:cNvPr id="36" name="module tile 32"/>
          <p:cNvSpPr/>
          <p:nvPr/>
        </p:nvSpPr>
        <p:spPr>
          <a:xfrm>
            <a:off x="8439912" y="2441448"/>
            <a:ext cx="329184" cy="329184"/>
          </a:xfrm>
          <a:prstGeom prst="roundRect">
            <a:avLst>
              <a:gd name="adj" fmla="val 13889"/>
            </a:avLst>
          </a:prstGeom>
          <a:solidFill>
            <a:schemeClr val="accent3">
              <a:alpha val="45000"/>
            </a:schemeClr>
          </a:solidFill>
          <a:ln/>
        </p:spPr>
      </p:sp>
      <p:sp>
        <p:nvSpPr>
          <p:cNvPr id="37" name="module tile 33"/>
          <p:cNvSpPr/>
          <p:nvPr/>
        </p:nvSpPr>
        <p:spPr>
          <a:xfrm>
            <a:off x="5623560" y="2843784"/>
            <a:ext cx="329184" cy="329184"/>
          </a:xfrm>
          <a:prstGeom prst="roundRect">
            <a:avLst>
              <a:gd name="adj" fmla="val 13889"/>
            </a:avLst>
          </a:prstGeom>
          <a:solidFill>
            <a:schemeClr val="accent3">
              <a:alpha val="45000"/>
            </a:schemeClr>
          </a:solidFill>
          <a:ln/>
        </p:spPr>
      </p:sp>
      <p:sp>
        <p:nvSpPr>
          <p:cNvPr id="38" name="module tile 34"/>
          <p:cNvSpPr/>
          <p:nvPr/>
        </p:nvSpPr>
        <p:spPr>
          <a:xfrm>
            <a:off x="6025896" y="2843784"/>
            <a:ext cx="329184" cy="329184"/>
          </a:xfrm>
          <a:prstGeom prst="roundRect">
            <a:avLst>
              <a:gd name="adj" fmla="val 13889"/>
            </a:avLst>
          </a:prstGeom>
          <a:solidFill>
            <a:schemeClr val="accent3">
              <a:alpha val="45000"/>
            </a:schemeClr>
          </a:solidFill>
          <a:ln/>
        </p:spPr>
      </p:sp>
      <p:sp>
        <p:nvSpPr>
          <p:cNvPr id="39" name="module tile 35"/>
          <p:cNvSpPr/>
          <p:nvPr/>
        </p:nvSpPr>
        <p:spPr>
          <a:xfrm>
            <a:off x="6428232" y="2843784"/>
            <a:ext cx="329184" cy="329184"/>
          </a:xfrm>
          <a:prstGeom prst="roundRect">
            <a:avLst>
              <a:gd name="adj" fmla="val 13889"/>
            </a:avLst>
          </a:prstGeom>
          <a:solidFill>
            <a:schemeClr val="accent3">
              <a:alpha val="45000"/>
            </a:schemeClr>
          </a:solidFill>
          <a:ln/>
        </p:spPr>
      </p:sp>
      <p:sp>
        <p:nvSpPr>
          <p:cNvPr id="40" name="module tile 36"/>
          <p:cNvSpPr/>
          <p:nvPr/>
        </p:nvSpPr>
        <p:spPr>
          <a:xfrm>
            <a:off x="6830568" y="2843784"/>
            <a:ext cx="329184" cy="329184"/>
          </a:xfrm>
          <a:prstGeom prst="roundRect">
            <a:avLst>
              <a:gd name="adj" fmla="val 13889"/>
            </a:avLst>
          </a:prstGeom>
          <a:solidFill>
            <a:schemeClr val="accent3">
              <a:alpha val="45000"/>
            </a:schemeClr>
          </a:solidFill>
          <a:ln/>
        </p:spPr>
      </p:sp>
      <p:sp>
        <p:nvSpPr>
          <p:cNvPr id="41" name="module tile 37"/>
          <p:cNvSpPr/>
          <p:nvPr/>
        </p:nvSpPr>
        <p:spPr>
          <a:xfrm>
            <a:off x="7232904" y="2843784"/>
            <a:ext cx="329184" cy="329184"/>
          </a:xfrm>
          <a:prstGeom prst="roundRect">
            <a:avLst>
              <a:gd name="adj" fmla="val 13889"/>
            </a:avLst>
          </a:prstGeom>
          <a:solidFill>
            <a:schemeClr val="accent3">
              <a:alpha val="45000"/>
            </a:schemeClr>
          </a:solidFill>
          <a:ln/>
        </p:spPr>
      </p:sp>
      <p:sp>
        <p:nvSpPr>
          <p:cNvPr id="42" name="module tile 38"/>
          <p:cNvSpPr/>
          <p:nvPr/>
        </p:nvSpPr>
        <p:spPr>
          <a:xfrm>
            <a:off x="7635240" y="2843784"/>
            <a:ext cx="329184" cy="329184"/>
          </a:xfrm>
          <a:prstGeom prst="roundRect">
            <a:avLst>
              <a:gd name="adj" fmla="val 13889"/>
            </a:avLst>
          </a:prstGeom>
          <a:solidFill>
            <a:schemeClr val="accent3">
              <a:alpha val="45000"/>
            </a:schemeClr>
          </a:solidFill>
          <a:ln/>
        </p:spPr>
      </p:sp>
      <p:sp>
        <p:nvSpPr>
          <p:cNvPr id="43" name="module tile 39"/>
          <p:cNvSpPr/>
          <p:nvPr/>
        </p:nvSpPr>
        <p:spPr>
          <a:xfrm>
            <a:off x="8037576" y="2843784"/>
            <a:ext cx="329184" cy="329184"/>
          </a:xfrm>
          <a:prstGeom prst="roundRect">
            <a:avLst>
              <a:gd name="adj" fmla="val 13889"/>
            </a:avLst>
          </a:prstGeom>
          <a:solidFill>
            <a:schemeClr val="accent3">
              <a:alpha val="45000"/>
            </a:schemeClr>
          </a:solidFill>
          <a:ln/>
        </p:spPr>
      </p:sp>
      <p:sp>
        <p:nvSpPr>
          <p:cNvPr id="44" name="module tile 40"/>
          <p:cNvSpPr/>
          <p:nvPr/>
        </p:nvSpPr>
        <p:spPr>
          <a:xfrm>
            <a:off x="8439912" y="2843784"/>
            <a:ext cx="329184" cy="329184"/>
          </a:xfrm>
          <a:prstGeom prst="roundRect">
            <a:avLst>
              <a:gd name="adj" fmla="val 13889"/>
            </a:avLst>
          </a:prstGeom>
          <a:solidFill>
            <a:schemeClr val="accent3">
              <a:alpha val="45000"/>
            </a:schemeClr>
          </a:solidFill>
          <a:ln/>
        </p:spPr>
      </p:sp>
      <p:sp>
        <p:nvSpPr>
          <p:cNvPr id="45" name="module tile 41"/>
          <p:cNvSpPr/>
          <p:nvPr/>
        </p:nvSpPr>
        <p:spPr>
          <a:xfrm>
            <a:off x="5623560" y="3246120"/>
            <a:ext cx="329184" cy="329184"/>
          </a:xfrm>
          <a:prstGeom prst="roundRect">
            <a:avLst>
              <a:gd name="adj" fmla="val 13889"/>
            </a:avLst>
          </a:prstGeom>
          <a:solidFill>
            <a:schemeClr val="accent3">
              <a:alpha val="45000"/>
            </a:schemeClr>
          </a:solidFill>
          <a:ln/>
        </p:spPr>
      </p:sp>
      <p:sp>
        <p:nvSpPr>
          <p:cNvPr id="46" name="module tile 42"/>
          <p:cNvSpPr/>
          <p:nvPr/>
        </p:nvSpPr>
        <p:spPr>
          <a:xfrm>
            <a:off x="6025896" y="3246120"/>
            <a:ext cx="329184" cy="329184"/>
          </a:xfrm>
          <a:prstGeom prst="roundRect">
            <a:avLst>
              <a:gd name="adj" fmla="val 13889"/>
            </a:avLst>
          </a:prstGeom>
          <a:solidFill>
            <a:schemeClr val="accent3">
              <a:alpha val="45000"/>
            </a:schemeClr>
          </a:solidFill>
          <a:ln/>
        </p:spPr>
      </p:sp>
      <p:sp>
        <p:nvSpPr>
          <p:cNvPr id="47" name="module tile 43"/>
          <p:cNvSpPr/>
          <p:nvPr/>
        </p:nvSpPr>
        <p:spPr>
          <a:xfrm>
            <a:off x="6428232" y="3246120"/>
            <a:ext cx="329184" cy="329184"/>
          </a:xfrm>
          <a:prstGeom prst="roundRect">
            <a:avLst>
              <a:gd name="adj" fmla="val 13889"/>
            </a:avLst>
          </a:prstGeom>
          <a:solidFill>
            <a:schemeClr val="accent3">
              <a:alpha val="45000"/>
            </a:schemeClr>
          </a:solidFill>
          <a:ln/>
        </p:spPr>
      </p:sp>
      <p:sp>
        <p:nvSpPr>
          <p:cNvPr id="48" name="module tile 44"/>
          <p:cNvSpPr/>
          <p:nvPr/>
        </p:nvSpPr>
        <p:spPr>
          <a:xfrm>
            <a:off x="6830568" y="3246120"/>
            <a:ext cx="329184" cy="329184"/>
          </a:xfrm>
          <a:prstGeom prst="roundRect">
            <a:avLst>
              <a:gd name="adj" fmla="val 13889"/>
            </a:avLst>
          </a:prstGeom>
          <a:solidFill>
            <a:schemeClr val="accent3">
              <a:alpha val="45000"/>
            </a:schemeClr>
          </a:solidFill>
          <a:ln/>
        </p:spPr>
      </p:sp>
      <p:sp>
        <p:nvSpPr>
          <p:cNvPr id="49" name="module tile 45"/>
          <p:cNvSpPr/>
          <p:nvPr/>
        </p:nvSpPr>
        <p:spPr>
          <a:xfrm>
            <a:off x="7232904" y="3246120"/>
            <a:ext cx="329184" cy="329184"/>
          </a:xfrm>
          <a:prstGeom prst="roundRect">
            <a:avLst>
              <a:gd name="adj" fmla="val 13889"/>
            </a:avLst>
          </a:prstGeom>
          <a:solidFill>
            <a:schemeClr val="accent3">
              <a:alpha val="45000"/>
            </a:schemeClr>
          </a:solidFill>
          <a:ln/>
        </p:spPr>
      </p:sp>
      <p:sp>
        <p:nvSpPr>
          <p:cNvPr id="50" name="module tile 46"/>
          <p:cNvSpPr/>
          <p:nvPr/>
        </p:nvSpPr>
        <p:spPr>
          <a:xfrm>
            <a:off x="7635240" y="3246120"/>
            <a:ext cx="329184" cy="329184"/>
          </a:xfrm>
          <a:prstGeom prst="roundRect">
            <a:avLst>
              <a:gd name="adj" fmla="val 13889"/>
            </a:avLst>
          </a:prstGeom>
          <a:solidFill>
            <a:schemeClr val="accent3">
              <a:alpha val="45000"/>
            </a:schemeClr>
          </a:solidFill>
          <a:ln/>
        </p:spPr>
      </p:sp>
      <p:sp>
        <p:nvSpPr>
          <p:cNvPr id="51" name="module tile 47"/>
          <p:cNvSpPr/>
          <p:nvPr/>
        </p:nvSpPr>
        <p:spPr>
          <a:xfrm>
            <a:off x="8037576" y="3246120"/>
            <a:ext cx="329184" cy="329184"/>
          </a:xfrm>
          <a:prstGeom prst="roundRect">
            <a:avLst>
              <a:gd name="adj" fmla="val 13889"/>
            </a:avLst>
          </a:prstGeom>
          <a:solidFill>
            <a:schemeClr val="accent3">
              <a:alpha val="45000"/>
            </a:schemeClr>
          </a:solidFill>
          <a:ln/>
        </p:spPr>
      </p:sp>
      <p:sp>
        <p:nvSpPr>
          <p:cNvPr id="52" name="Tile caption"/>
          <p:cNvSpPr txBox="1"/>
          <p:nvPr/>
        </p:nvSpPr>
        <p:spPr>
          <a:xfrm>
            <a:off x="5623560" y="3739896"/>
            <a:ext cx="3200400" cy="457200"/>
          </a:xfrm>
          <a:prstGeom prst="rect">
            <a:avLst/>
          </a:prstGeom>
          <a:noFill/>
          <a:ln/>
        </p:spPr>
        <p:txBody>
          <a:bodyPr wrap="square" lIns="0" tIns="0" rIns="0" bIns="0" rtlCol="0" anchor="t"/>
          <a:lstStyle/>
          <a:p>
            <a:pPr indent="0" marL="0">
              <a:buNone/>
            </a:pPr>
            <a:r>
              <a:rPr lang="en-US" sz="1200" dirty="0">
                <a:solidFill>
                  <a:schemeClr val="bg2"/>
                </a:solidFill>
              </a:rPr>
              <a:t>The 47 modules: 11 fix first, 13 watch closely, 23 monitor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t"/>
          <a:lstStyle/>
          <a:p>
            <a:pPr algn="l" indent="0" marL="0">
              <a:buNone/>
            </a:pPr>
            <a:r>
              <a:rPr lang="en-US" sz="2800" b="1" dirty="0">
                <a:solidFill>
                  <a:schemeClr val="tx2"/>
                </a:solidFill>
              </a:rPr>
              <a:t>47 modules, 5 releases, 235 data points</a:t>
            </a:r>
            <a:endParaRPr lang="en-US" sz="2800" dirty="0"/>
          </a:p>
        </p:txBody>
      </p:sp>
      <p:sp>
        <p:nvSpPr>
          <p:cNvPr id="3" name="Data card 1"/>
          <p:cNvSpPr/>
          <p:nvPr/>
        </p:nvSpPr>
        <p:spPr>
          <a:xfrm>
            <a:off x="457200" y="1280160"/>
            <a:ext cx="2011680" cy="1463040"/>
          </a:xfrm>
          <a:prstGeom prst="roundRect">
            <a:avLst>
              <a:gd name="adj" fmla="val 5000"/>
            </a:avLst>
          </a:prstGeom>
          <a:solidFill>
            <a:schemeClr val="bg2"/>
          </a:solidFill>
          <a:ln/>
        </p:spPr>
      </p:sp>
      <p:sp>
        <p:nvSpPr>
          <p:cNvPr id="4" name="Data card value 1"/>
          <p:cNvSpPr txBox="1"/>
          <p:nvPr/>
        </p:nvSpPr>
        <p:spPr>
          <a:xfrm>
            <a:off x="594360" y="1389888"/>
            <a:ext cx="1737360" cy="640080"/>
          </a:xfrm>
          <a:prstGeom prst="rect">
            <a:avLst/>
          </a:prstGeom>
          <a:noFill/>
          <a:ln/>
        </p:spPr>
        <p:txBody>
          <a:bodyPr wrap="square" lIns="0" tIns="0" rIns="0" bIns="0" rtlCol="0" anchor="ctr"/>
          <a:lstStyle/>
          <a:p>
            <a:pPr indent="0" marL="0">
              <a:buNone/>
            </a:pPr>
            <a:r>
              <a:rPr lang="en-US" sz="3400" b="1" dirty="0">
                <a:solidFill>
                  <a:schemeClr val="accent2"/>
                </a:solidFill>
                <a:latin typeface="+mj-lt" pitchFamily="34" charset="0"/>
                <a:ea typeface="+mj-lt" pitchFamily="34" charset="-122"/>
                <a:cs typeface="+mj-lt" pitchFamily="34" charset="-120"/>
              </a:rPr>
              <a:t>47</a:t>
            </a:r>
            <a:endParaRPr lang="en-US" sz="3400" dirty="0"/>
          </a:p>
        </p:txBody>
      </p:sp>
      <p:sp>
        <p:nvSpPr>
          <p:cNvPr id="5" name="Data card label 1"/>
          <p:cNvSpPr txBox="1"/>
          <p:nvPr/>
        </p:nvSpPr>
        <p:spPr>
          <a:xfrm>
            <a:off x="594360" y="2057400"/>
            <a:ext cx="1737360" cy="594360"/>
          </a:xfrm>
          <a:prstGeom prst="rect">
            <a:avLst/>
          </a:prstGeom>
          <a:noFill/>
          <a:ln/>
        </p:spPr>
        <p:txBody>
          <a:bodyPr wrap="square" lIns="0" tIns="0" rIns="0" bIns="0" rtlCol="0" anchor="t"/>
          <a:lstStyle/>
          <a:p>
            <a:pPr indent="0" marL="0">
              <a:buNone/>
            </a:pPr>
            <a:r>
              <a:rPr lang="en-US" sz="1400" dirty="0">
                <a:solidFill>
                  <a:schemeClr val="tx1"/>
                </a:solidFill>
              </a:rPr>
              <a:t>modules in 6 components</a:t>
            </a:r>
            <a:endParaRPr lang="en-US" sz="1400" dirty="0"/>
          </a:p>
        </p:txBody>
      </p:sp>
      <p:sp>
        <p:nvSpPr>
          <p:cNvPr id="6" name="Data card 2"/>
          <p:cNvSpPr/>
          <p:nvPr/>
        </p:nvSpPr>
        <p:spPr>
          <a:xfrm>
            <a:off x="2606040" y="1280160"/>
            <a:ext cx="2011680" cy="1463040"/>
          </a:xfrm>
          <a:prstGeom prst="roundRect">
            <a:avLst>
              <a:gd name="adj" fmla="val 5000"/>
            </a:avLst>
          </a:prstGeom>
          <a:solidFill>
            <a:schemeClr val="bg2"/>
          </a:solidFill>
          <a:ln/>
        </p:spPr>
      </p:sp>
      <p:sp>
        <p:nvSpPr>
          <p:cNvPr id="7" name="Data card value 2"/>
          <p:cNvSpPr txBox="1"/>
          <p:nvPr/>
        </p:nvSpPr>
        <p:spPr>
          <a:xfrm>
            <a:off x="2743200" y="1389888"/>
            <a:ext cx="1737360" cy="640080"/>
          </a:xfrm>
          <a:prstGeom prst="rect">
            <a:avLst/>
          </a:prstGeom>
          <a:noFill/>
          <a:ln/>
        </p:spPr>
        <p:txBody>
          <a:bodyPr wrap="square" lIns="0" tIns="0" rIns="0" bIns="0" rtlCol="0" anchor="ctr"/>
          <a:lstStyle/>
          <a:p>
            <a:pPr indent="0" marL="0">
              <a:buNone/>
            </a:pPr>
            <a:r>
              <a:rPr lang="en-US" sz="3400" b="1" dirty="0">
                <a:solidFill>
                  <a:schemeClr val="accent2"/>
                </a:solidFill>
                <a:latin typeface="+mj-lt" pitchFamily="34" charset="0"/>
                <a:ea typeface="+mj-lt" pitchFamily="34" charset="-122"/>
                <a:cs typeface="+mj-lt" pitchFamily="34" charset="-120"/>
              </a:rPr>
              <a:t>235</a:t>
            </a:r>
            <a:endParaRPr lang="en-US" sz="3400" dirty="0"/>
          </a:p>
        </p:txBody>
      </p:sp>
      <p:sp>
        <p:nvSpPr>
          <p:cNvPr id="8" name="Data card label 2"/>
          <p:cNvSpPr txBox="1"/>
          <p:nvPr/>
        </p:nvSpPr>
        <p:spPr>
          <a:xfrm>
            <a:off x="2743200" y="2057400"/>
            <a:ext cx="1737360" cy="594360"/>
          </a:xfrm>
          <a:prstGeom prst="rect">
            <a:avLst/>
          </a:prstGeom>
          <a:noFill/>
          <a:ln/>
        </p:spPr>
        <p:txBody>
          <a:bodyPr wrap="square" lIns="0" tIns="0" rIns="0" bIns="0" rtlCol="0" anchor="t"/>
          <a:lstStyle/>
          <a:p>
            <a:pPr indent="0" marL="0">
              <a:buNone/>
            </a:pPr>
            <a:r>
              <a:rPr lang="en-US" sz="1400" dirty="0">
                <a:solidFill>
                  <a:schemeClr val="tx1"/>
                </a:solidFill>
              </a:rPr>
              <a:t>module-release rows (47 x 5)</a:t>
            </a:r>
            <a:endParaRPr lang="en-US" sz="1400" dirty="0"/>
          </a:p>
        </p:txBody>
      </p:sp>
      <p:sp>
        <p:nvSpPr>
          <p:cNvPr id="9" name="Data card 3"/>
          <p:cNvSpPr/>
          <p:nvPr/>
        </p:nvSpPr>
        <p:spPr>
          <a:xfrm>
            <a:off x="457200" y="2880360"/>
            <a:ext cx="2011680" cy="1463040"/>
          </a:xfrm>
          <a:prstGeom prst="roundRect">
            <a:avLst>
              <a:gd name="adj" fmla="val 5000"/>
            </a:avLst>
          </a:prstGeom>
          <a:solidFill>
            <a:schemeClr val="bg2"/>
          </a:solidFill>
          <a:ln/>
        </p:spPr>
      </p:sp>
      <p:sp>
        <p:nvSpPr>
          <p:cNvPr id="10" name="Data card value 3"/>
          <p:cNvSpPr txBox="1"/>
          <p:nvPr/>
        </p:nvSpPr>
        <p:spPr>
          <a:xfrm>
            <a:off x="594360" y="2990088"/>
            <a:ext cx="1737360" cy="640080"/>
          </a:xfrm>
          <a:prstGeom prst="rect">
            <a:avLst/>
          </a:prstGeom>
          <a:noFill/>
          <a:ln/>
        </p:spPr>
        <p:txBody>
          <a:bodyPr wrap="square" lIns="0" tIns="0" rIns="0" bIns="0" rtlCol="0" anchor="ctr"/>
          <a:lstStyle/>
          <a:p>
            <a:pPr indent="0" marL="0">
              <a:buNone/>
            </a:pPr>
            <a:r>
              <a:rPr lang="en-US" sz="3400" b="1" dirty="0">
                <a:solidFill>
                  <a:schemeClr val="accent2"/>
                </a:solidFill>
                <a:latin typeface="+mj-lt" pitchFamily="34" charset="0"/>
                <a:ea typeface="+mj-lt" pitchFamily="34" charset="-122"/>
                <a:cs typeface="+mj-lt" pitchFamily="34" charset="-120"/>
              </a:rPr>
              <a:t>285</a:t>
            </a:r>
            <a:endParaRPr lang="en-US" sz="3400" dirty="0"/>
          </a:p>
        </p:txBody>
      </p:sp>
      <p:sp>
        <p:nvSpPr>
          <p:cNvPr id="11" name="Data card label 3"/>
          <p:cNvSpPr txBox="1"/>
          <p:nvPr/>
        </p:nvSpPr>
        <p:spPr>
          <a:xfrm>
            <a:off x="594360" y="3657600"/>
            <a:ext cx="1737360" cy="594360"/>
          </a:xfrm>
          <a:prstGeom prst="rect">
            <a:avLst/>
          </a:prstGeom>
          <a:noFill/>
          <a:ln/>
        </p:spPr>
        <p:txBody>
          <a:bodyPr wrap="square" lIns="0" tIns="0" rIns="0" bIns="0" rtlCol="0" anchor="t"/>
          <a:lstStyle/>
          <a:p>
            <a:pPr indent="0" marL="0">
              <a:buNone/>
            </a:pPr>
            <a:r>
              <a:rPr lang="en-US" sz="1400" dirty="0">
                <a:solidFill>
                  <a:schemeClr val="tx1"/>
                </a:solidFill>
              </a:rPr>
              <a:t>defects after cleaning</a:t>
            </a:r>
            <a:endParaRPr lang="en-US" sz="1400" dirty="0"/>
          </a:p>
        </p:txBody>
      </p:sp>
      <p:sp>
        <p:nvSpPr>
          <p:cNvPr id="12" name="Data card 4"/>
          <p:cNvSpPr/>
          <p:nvPr/>
        </p:nvSpPr>
        <p:spPr>
          <a:xfrm>
            <a:off x="2606040" y="2880360"/>
            <a:ext cx="2011680" cy="1463040"/>
          </a:xfrm>
          <a:prstGeom prst="roundRect">
            <a:avLst>
              <a:gd name="adj" fmla="val 5000"/>
            </a:avLst>
          </a:prstGeom>
          <a:solidFill>
            <a:schemeClr val="bg2"/>
          </a:solidFill>
          <a:ln/>
        </p:spPr>
      </p:sp>
      <p:sp>
        <p:nvSpPr>
          <p:cNvPr id="13" name="Data card value 4"/>
          <p:cNvSpPr txBox="1"/>
          <p:nvPr/>
        </p:nvSpPr>
        <p:spPr>
          <a:xfrm>
            <a:off x="2743200" y="2990088"/>
            <a:ext cx="1737360" cy="640080"/>
          </a:xfrm>
          <a:prstGeom prst="rect">
            <a:avLst/>
          </a:prstGeom>
          <a:noFill/>
          <a:ln/>
        </p:spPr>
        <p:txBody>
          <a:bodyPr wrap="square" lIns="0" tIns="0" rIns="0" bIns="0" rtlCol="0" anchor="ctr"/>
          <a:lstStyle/>
          <a:p>
            <a:pPr indent="0" marL="0">
              <a:buNone/>
            </a:pPr>
            <a:r>
              <a:rPr lang="en-US" sz="2200" b="1" dirty="0">
                <a:solidFill>
                  <a:schemeClr val="accent2"/>
                </a:solidFill>
                <a:latin typeface="+mj-lt" pitchFamily="34" charset="0"/>
                <a:ea typeface="+mj-lt" pitchFamily="34" charset="-122"/>
                <a:cs typeface="+mj-lt" pitchFamily="34" charset="-120"/>
              </a:rPr>
              <a:t>v1.0 to v3.0</a:t>
            </a:r>
            <a:endParaRPr lang="en-US" sz="2200" dirty="0"/>
          </a:p>
        </p:txBody>
      </p:sp>
      <p:sp>
        <p:nvSpPr>
          <p:cNvPr id="14" name="Data card label 4"/>
          <p:cNvSpPr txBox="1"/>
          <p:nvPr/>
        </p:nvSpPr>
        <p:spPr>
          <a:xfrm>
            <a:off x="2743200" y="3657600"/>
            <a:ext cx="1737360" cy="594360"/>
          </a:xfrm>
          <a:prstGeom prst="rect">
            <a:avLst/>
          </a:prstGeom>
          <a:noFill/>
          <a:ln/>
        </p:spPr>
        <p:txBody>
          <a:bodyPr wrap="square" lIns="0" tIns="0" rIns="0" bIns="0" rtlCol="0" anchor="t"/>
          <a:lstStyle/>
          <a:p>
            <a:pPr indent="0" marL="0">
              <a:buNone/>
            </a:pPr>
            <a:r>
              <a:rPr lang="en-US" sz="1400" dirty="0">
                <a:solidFill>
                  <a:schemeClr val="tx1"/>
                </a:solidFill>
              </a:rPr>
              <a:t>five releases, 2024 to 2025</a:t>
            </a:r>
            <a:endParaRPr lang="en-US" sz="1400" dirty="0"/>
          </a:p>
        </p:txBody>
      </p:sp>
      <p:sp>
        <p:nvSpPr>
          <p:cNvPr id="15" name="Cleaning heading"/>
          <p:cNvSpPr txBox="1"/>
          <p:nvPr/>
        </p:nvSpPr>
        <p:spPr>
          <a:xfrm>
            <a:off x="4937760" y="1280160"/>
            <a:ext cx="3749040" cy="320040"/>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Cleaned before any analysis</a:t>
            </a:r>
            <a:endParaRPr lang="en-US" sz="1800" dirty="0"/>
          </a:p>
        </p:txBody>
      </p:sp>
      <p:sp>
        <p:nvSpPr>
          <p:cNvPr id="16" name="Cleaning marker 1"/>
          <p:cNvSpPr/>
          <p:nvPr/>
        </p:nvSpPr>
        <p:spPr>
          <a:xfrm>
            <a:off x="4937760" y="1773936"/>
            <a:ext cx="310896" cy="310896"/>
          </a:xfrm>
          <a:prstGeom prst="ellipse">
            <a:avLst/>
          </a:prstGeom>
          <a:solidFill>
            <a:schemeClr val="accent1"/>
          </a:solidFill>
          <a:ln/>
        </p:spPr>
      </p:sp>
      <p:sp>
        <p:nvSpPr>
          <p:cNvPr id="17" name="Cleaning number 1"/>
          <p:cNvSpPr txBox="1"/>
          <p:nvPr/>
        </p:nvSpPr>
        <p:spPr>
          <a:xfrm>
            <a:off x="4937760" y="177393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8" name="Cleaning item 1"/>
          <p:cNvSpPr txBox="1"/>
          <p:nvPr/>
        </p:nvSpPr>
        <p:spPr>
          <a:xfrm>
            <a:off x="5394960" y="1737360"/>
            <a:ext cx="3291840" cy="658368"/>
          </a:xfrm>
          <a:prstGeom prst="rect">
            <a:avLst/>
          </a:prstGeom>
          <a:noFill/>
          <a:ln/>
        </p:spPr>
        <p:txBody>
          <a:bodyPr wrap="square" lIns="0" tIns="0" rIns="0" bIns="0" rtlCol="0" anchor="t"/>
          <a:lstStyle/>
          <a:p>
            <a:pPr indent="0" marL="0">
              <a:buNone/>
            </a:pPr>
            <a:r>
              <a:rPr lang="en-US" sz="1400" b="1" dirty="0">
                <a:solidFill>
                  <a:schemeClr val="tx1"/>
                </a:solidFill>
              </a:rPr>
              <a:t>65 missing values</a:t>
            </a:r>
            <a:pPr indent="0" marL="0">
              <a:buNone/>
            </a:pPr>
            <a:r>
              <a:rPr lang="en-US" sz="1400" dirty="0">
                <a:solidFill>
                  <a:schemeClr val="tx1"/>
                </a:solidFill>
              </a:rPr>
              <a:t> filled with the module's median (58 metrics, 7 contributor counts)</a:t>
            </a:r>
            <a:endParaRPr lang="en-US" sz="1400" dirty="0"/>
          </a:p>
        </p:txBody>
      </p:sp>
      <p:sp>
        <p:nvSpPr>
          <p:cNvPr id="19" name="Cleaning marker 2"/>
          <p:cNvSpPr/>
          <p:nvPr/>
        </p:nvSpPr>
        <p:spPr>
          <a:xfrm>
            <a:off x="4937760" y="2487168"/>
            <a:ext cx="310896" cy="310896"/>
          </a:xfrm>
          <a:prstGeom prst="ellipse">
            <a:avLst/>
          </a:prstGeom>
          <a:solidFill>
            <a:schemeClr val="accent1"/>
          </a:solidFill>
          <a:ln/>
        </p:spPr>
      </p:sp>
      <p:sp>
        <p:nvSpPr>
          <p:cNvPr id="20" name="Cleaning number 2"/>
          <p:cNvSpPr txBox="1"/>
          <p:nvPr/>
        </p:nvSpPr>
        <p:spPr>
          <a:xfrm>
            <a:off x="4937760" y="248716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1" name="Cleaning item 2"/>
          <p:cNvSpPr txBox="1"/>
          <p:nvPr/>
        </p:nvSpPr>
        <p:spPr>
          <a:xfrm>
            <a:off x="5394960" y="2450592"/>
            <a:ext cx="3291840" cy="658368"/>
          </a:xfrm>
          <a:prstGeom prst="rect">
            <a:avLst/>
          </a:prstGeom>
          <a:noFill/>
          <a:ln/>
        </p:spPr>
        <p:txBody>
          <a:bodyPr wrap="square" lIns="0" tIns="0" rIns="0" bIns="0" rtlCol="0" anchor="t"/>
          <a:lstStyle/>
          <a:p>
            <a:pPr indent="0" marL="0">
              <a:buNone/>
            </a:pPr>
            <a:r>
              <a:rPr lang="en-US" sz="1400" b="1" dirty="0">
                <a:solidFill>
                  <a:schemeClr val="tx1"/>
                </a:solidFill>
              </a:rPr>
              <a:t>26 duplicate rows</a:t>
            </a:r>
            <a:pPr indent="0" marL="0">
              <a:buNone/>
            </a:pPr>
            <a:r>
              <a:rPr lang="en-US" sz="1400" dirty="0">
                <a:solidFill>
                  <a:schemeClr val="tx1"/>
                </a:solidFill>
              </a:rPr>
              <a:t> removed (14 in metrics, 12 in releases)</a:t>
            </a:r>
            <a:endParaRPr lang="en-US" sz="1400" dirty="0"/>
          </a:p>
        </p:txBody>
      </p:sp>
      <p:sp>
        <p:nvSpPr>
          <p:cNvPr id="22" name="Cleaning marker 3"/>
          <p:cNvSpPr/>
          <p:nvPr/>
        </p:nvSpPr>
        <p:spPr>
          <a:xfrm>
            <a:off x="4937760" y="3200400"/>
            <a:ext cx="310896" cy="310896"/>
          </a:xfrm>
          <a:prstGeom prst="ellipse">
            <a:avLst/>
          </a:prstGeom>
          <a:solidFill>
            <a:schemeClr val="accent1"/>
          </a:solidFill>
          <a:ln/>
        </p:spPr>
      </p:sp>
      <p:sp>
        <p:nvSpPr>
          <p:cNvPr id="23" name="Cleaning number 3"/>
          <p:cNvSpPr txBox="1"/>
          <p:nvPr/>
        </p:nvSpPr>
        <p:spPr>
          <a:xfrm>
            <a:off x="4937760" y="32004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4" name="Cleaning item 3"/>
          <p:cNvSpPr txBox="1"/>
          <p:nvPr/>
        </p:nvSpPr>
        <p:spPr>
          <a:xfrm>
            <a:off x="5394960" y="3163824"/>
            <a:ext cx="3291840" cy="658368"/>
          </a:xfrm>
          <a:prstGeom prst="rect">
            <a:avLst/>
          </a:prstGeom>
          <a:noFill/>
          <a:ln/>
        </p:spPr>
        <p:txBody>
          <a:bodyPr wrap="square" lIns="0" tIns="0" rIns="0" bIns="0" rtlCol="0" anchor="t"/>
          <a:lstStyle/>
          <a:p>
            <a:pPr indent="0" marL="0">
              <a:buNone/>
            </a:pPr>
            <a:r>
              <a:rPr lang="en-US" sz="1400" b="1" dirty="0">
                <a:solidFill>
                  <a:schemeClr val="tx1"/>
                </a:solidFill>
              </a:rPr>
              <a:t>7 extreme complexity values</a:t>
            </a:r>
            <a:pPr indent="0" marL="0">
              <a:buNone/>
            </a:pPr>
            <a:r>
              <a:rPr lang="en-US" sz="1400" dirty="0">
                <a:solidFill>
                  <a:schemeClr val="tx1"/>
                </a:solidFill>
              </a:rPr>
              <a:t> (200 to 300, normal is 10 to 30) treated as errors and replaced</a:t>
            </a:r>
            <a:endParaRPr lang="en-US" sz="1400" dirty="0"/>
          </a:p>
        </p:txBody>
      </p:sp>
      <p:sp>
        <p:nvSpPr>
          <p:cNvPr id="25" name="Cleaning marker 4"/>
          <p:cNvSpPr/>
          <p:nvPr/>
        </p:nvSpPr>
        <p:spPr>
          <a:xfrm>
            <a:off x="4937760" y="3913632"/>
            <a:ext cx="310896" cy="310896"/>
          </a:xfrm>
          <a:prstGeom prst="ellipse">
            <a:avLst/>
          </a:prstGeom>
          <a:solidFill>
            <a:schemeClr val="accent1"/>
          </a:solidFill>
          <a:ln/>
        </p:spPr>
      </p:sp>
      <p:sp>
        <p:nvSpPr>
          <p:cNvPr id="26" name="Cleaning number 4"/>
          <p:cNvSpPr txBox="1"/>
          <p:nvPr/>
        </p:nvSpPr>
        <p:spPr>
          <a:xfrm>
            <a:off x="4937760" y="39136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Cleaning item 4"/>
          <p:cNvSpPr txBox="1"/>
          <p:nvPr/>
        </p:nvSpPr>
        <p:spPr>
          <a:xfrm>
            <a:off x="5394960" y="3877056"/>
            <a:ext cx="3291840" cy="658368"/>
          </a:xfrm>
          <a:prstGeom prst="rect">
            <a:avLst/>
          </a:prstGeom>
          <a:noFill/>
          <a:ln/>
        </p:spPr>
        <p:txBody>
          <a:bodyPr wrap="square" lIns="0" tIns="0" rIns="0" bIns="0" rtlCol="0" anchor="t"/>
          <a:lstStyle/>
          <a:p>
            <a:pPr indent="0" marL="0">
              <a:buNone/>
            </a:pPr>
            <a:r>
              <a:rPr lang="en-US" sz="1400" b="1" dirty="0">
                <a:solidFill>
                  <a:schemeClr val="tx1"/>
                </a:solidFill>
              </a:rPr>
              <a:t>18 unmatched defect records</a:t>
            </a:r>
            <a:pPr indent="0" marL="0">
              <a:buNone/>
            </a:pPr>
            <a:r>
              <a:rPr lang="en-US" sz="1400" dirty="0">
                <a:solidFill>
                  <a:schemeClr val="tx1"/>
                </a:solidFill>
              </a:rPr>
              <a:t> (53 defects) set aside: module not in the module list</a:t>
            </a:r>
            <a:endParaRPr lang="en-US" sz="1400" dirty="0"/>
          </a:p>
        </p:txBody>
      </p:sp>
      <p:sp>
        <p:nvSpPr>
          <p:cNvPr id="28" name="Data note"/>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00" dirty="0">
                <a:solidFill>
                  <a:schemeClr val="accent3"/>
                </a:solidFill>
              </a:rPr>
              <a:t>Module names came in 94 to 106 spellings per file; all were standardised to 47. Data is synthetic (Python, seed 42, CH28 schema).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t"/>
          <a:lstStyle/>
          <a:p>
            <a:pPr algn="l" indent="0" marL="0">
              <a:buNone/>
            </a:pPr>
            <a:r>
              <a:rPr lang="en-US" sz="2800" b="1" dirty="0">
                <a:solidFill>
                  <a:schemeClr val="tx2"/>
                </a:solidFill>
              </a:rPr>
              <a:t>Ten modules hold 58% of all defects</a:t>
            </a:r>
            <a:endParaRPr lang="en-US" sz="2800" dirty="0"/>
          </a:p>
        </p:txBody>
      </p:sp>
      <p:graphicFrame>
        <p:nvGraphicFramePr>
          <p:cNvPr id="3" name="Chart 0" descr=""/>
          <p:cNvGraphicFramePr/>
          <p:nvPr/>
        </p:nvGraphicFramePr>
        <p:xfrm>
          <a:off x="365760" y="109728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4" name="Chart legend"/>
          <p:cNvSpPr txBox="1"/>
          <p:nvPr/>
        </p:nvSpPr>
        <p:spPr>
          <a:xfrm>
            <a:off x="457200" y="4480560"/>
            <a:ext cx="5029200" cy="228600"/>
          </a:xfrm>
          <a:prstGeom prst="rect">
            <a:avLst/>
          </a:prstGeom>
          <a:noFill/>
          <a:ln/>
        </p:spPr>
        <p:txBody>
          <a:bodyPr wrap="square" lIns="0" tIns="0" rIns="0" bIns="0" rtlCol="0" anchor="ctr"/>
          <a:lstStyle/>
          <a:p>
            <a:pPr indent="0" marL="0">
              <a:buNone/>
            </a:pPr>
            <a:r>
              <a:rPr lang="en-US" sz="1100" b="1" dirty="0">
                <a:solidFill>
                  <a:srgbClr val="E8590C"/>
                </a:solidFill>
              </a:rPr>
              <a:t>Orange: Tier 1, fix first</a:t>
            </a:r>
            <a:pPr indent="0" marL="0">
              <a:buNone/>
            </a:pPr>
            <a:r>
              <a:rPr lang="en-US" sz="1100" dirty="0">
                <a:solidFill>
                  <a:srgbClr val="5C6B7A"/>
                </a:solidFill>
              </a:rPr>
              <a:t>   Gray: monitor</a:t>
            </a:r>
            <a:endParaRPr lang="en-US" sz="1100" dirty="0"/>
          </a:p>
        </p:txBody>
      </p:sp>
      <p:sp>
        <p:nvSpPr>
          <p:cNvPr id="5" name="Concentration value"/>
          <p:cNvSpPr txBox="1"/>
          <p:nvPr/>
        </p:nvSpPr>
        <p:spPr>
          <a:xfrm>
            <a:off x="6035040" y="1143000"/>
            <a:ext cx="2651760" cy="640080"/>
          </a:xfrm>
          <a:prstGeom prst="rect">
            <a:avLst/>
          </a:prstGeom>
          <a:noFill/>
          <a:ln/>
        </p:spPr>
        <p:txBody>
          <a:bodyPr wrap="square" lIns="0" tIns="0" rIns="0" bIns="0" rtlCol="0" anchor="b"/>
          <a:lstStyle/>
          <a:p>
            <a:pPr indent="0" marL="0">
              <a:buNone/>
            </a:pPr>
            <a:r>
              <a:rPr lang="en-US" sz="3800" b="1" dirty="0">
                <a:solidFill>
                  <a:schemeClr val="accent1"/>
                </a:solidFill>
                <a:latin typeface="+mj-lt" pitchFamily="34" charset="0"/>
                <a:ea typeface="+mj-lt" pitchFamily="34" charset="-122"/>
                <a:cs typeface="+mj-lt" pitchFamily="34" charset="-120"/>
              </a:rPr>
              <a:t>58.2%</a:t>
            </a:r>
            <a:endParaRPr lang="en-US" sz="3800" dirty="0"/>
          </a:p>
        </p:txBody>
      </p:sp>
      <p:sp>
        <p:nvSpPr>
          <p:cNvPr id="6" name="Concentration label"/>
          <p:cNvSpPr txBox="1"/>
          <p:nvPr/>
        </p:nvSpPr>
        <p:spPr>
          <a:xfrm>
            <a:off x="6035040" y="1801368"/>
            <a:ext cx="2651760" cy="566928"/>
          </a:xfrm>
          <a:prstGeom prst="rect">
            <a:avLst/>
          </a:prstGeom>
          <a:noFill/>
          <a:ln/>
        </p:spPr>
        <p:txBody>
          <a:bodyPr wrap="square" lIns="0" tIns="0" rIns="0" bIns="0" rtlCol="0" anchor="t"/>
          <a:lstStyle/>
          <a:p>
            <a:pPr indent="0" marL="0">
              <a:buNone/>
            </a:pPr>
            <a:r>
              <a:rPr lang="en-US" sz="1400" dirty="0">
                <a:solidFill>
                  <a:schemeClr val="tx1"/>
                </a:solidFill>
              </a:rPr>
              <a:t>of 285 defects sit in the top 10 modules (21% of the 47)</a:t>
            </a:r>
            <a:endParaRPr lang="en-US" sz="1400" dirty="0"/>
          </a:p>
        </p:txBody>
      </p:sp>
      <p:sp>
        <p:nvSpPr>
          <p:cNvPr id="7" name="Coverage gap value"/>
          <p:cNvSpPr txBox="1"/>
          <p:nvPr/>
        </p:nvSpPr>
        <p:spPr>
          <a:xfrm>
            <a:off x="6035040" y="2514600"/>
            <a:ext cx="2651760" cy="640080"/>
          </a:xfrm>
          <a:prstGeom prst="rect">
            <a:avLst/>
          </a:prstGeom>
          <a:noFill/>
          <a:ln/>
        </p:spPr>
        <p:txBody>
          <a:bodyPr wrap="square" lIns="0" tIns="0" rIns="0" bIns="0" rtlCol="0" anchor="b"/>
          <a:lstStyle/>
          <a:p>
            <a:pPr indent="0" marL="0">
              <a:buNone/>
            </a:pPr>
            <a:r>
              <a:rPr lang="en-US" sz="3800" b="1" dirty="0">
                <a:solidFill>
                  <a:srgbClr val="2F7D9A"/>
                </a:solidFill>
                <a:latin typeface="+mj-lt" pitchFamily="34" charset="0"/>
                <a:ea typeface="+mj-lt" pitchFamily="34" charset="-122"/>
                <a:cs typeface="+mj-lt" pitchFamily="34" charset="-120"/>
              </a:rPr>
              <a:t>49% vs 67%</a:t>
            </a:r>
            <a:endParaRPr lang="en-US" sz="3800" dirty="0"/>
          </a:p>
        </p:txBody>
      </p:sp>
      <p:sp>
        <p:nvSpPr>
          <p:cNvPr id="8" name="Coverage gap label"/>
          <p:cNvSpPr txBox="1"/>
          <p:nvPr/>
        </p:nvSpPr>
        <p:spPr>
          <a:xfrm>
            <a:off x="6035040" y="3172968"/>
            <a:ext cx="2651760" cy="566928"/>
          </a:xfrm>
          <a:prstGeom prst="rect">
            <a:avLst/>
          </a:prstGeom>
          <a:noFill/>
          <a:ln/>
        </p:spPr>
        <p:txBody>
          <a:bodyPr wrap="square" lIns="0" tIns="0" rIns="0" bIns="0" rtlCol="0" anchor="t"/>
          <a:lstStyle/>
          <a:p>
            <a:pPr indent="0" marL="0">
              <a:buNone/>
            </a:pPr>
            <a:r>
              <a:rPr lang="en-US" sz="1400" dirty="0">
                <a:solidFill>
                  <a:schemeClr val="tx1"/>
                </a:solidFill>
              </a:rPr>
              <a:t>average test coverage: top-10 modules vs the rest</a:t>
            </a:r>
            <a:endParaRPr lang="en-US" sz="1400" dirty="0"/>
          </a:p>
        </p:txBody>
      </p:sp>
      <p:sp>
        <p:nvSpPr>
          <p:cNvPr id="9" name="Component note"/>
          <p:cNvSpPr txBox="1"/>
          <p:nvPr/>
        </p:nvSpPr>
        <p:spPr>
          <a:xfrm>
            <a:off x="6035040" y="3931920"/>
            <a:ext cx="2651760" cy="548640"/>
          </a:xfrm>
          <a:prstGeom prst="rect">
            <a:avLst/>
          </a:prstGeom>
          <a:noFill/>
          <a:ln/>
        </p:spPr>
        <p:txBody>
          <a:bodyPr wrap="square" lIns="0" tIns="0" rIns="0" bIns="0" rtlCol="0" anchor="t"/>
          <a:lstStyle/>
          <a:p>
            <a:pPr indent="0" marL="0">
              <a:buNone/>
            </a:pPr>
            <a:r>
              <a:rPr lang="en-US" sz="1400" dirty="0">
                <a:solidFill>
                  <a:schemeClr val="tx1"/>
                </a:solidFill>
              </a:rPr>
              <a:t>By component, UI has the most defects (70) and Auth the fewest (31).</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t"/>
          <a:lstStyle/>
          <a:p>
            <a:pPr algn="l" indent="0" marL="0">
              <a:buNone/>
            </a:pPr>
            <a:r>
              <a:rPr lang="en-US" sz="2800" b="1" dirty="0">
                <a:solidFill>
                  <a:schemeClr val="tx2"/>
                </a:solidFill>
              </a:rPr>
              <a:t>More churn, less coverage, more defects</a:t>
            </a:r>
            <a:endParaRPr lang="en-US" sz="2800" dirty="0"/>
          </a:p>
        </p:txBody>
      </p:sp>
      <p:graphicFrame>
        <p:nvGraphicFramePr>
          <p:cNvPr id="3" name="Chart 0" descr=""/>
          <p:cNvGraphicFramePr/>
          <p:nvPr/>
        </p:nvGraphicFramePr>
        <p:xfrm>
          <a:off x="365760" y="1051560"/>
          <a:ext cx="411480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114800" cy="2468880"/>
        </p:xfrm>
        <a:graphic xmlns:a="http://schemas.openxmlformats.org/drawingml/2006/main">
          <a:graphicData uri="http://schemas.openxmlformats.org/drawingml/2006/chart">
            <c:chart xmlns:c="http://schemas.openxmlformats.org/drawingml/2006/chart" r:id="rId2"/>
          </a:graphicData>
        </a:graphic>
      </p:graphicFrame>
      <p:sp>
        <p:nvSpPr>
          <p:cNvPr id="5" name="Churn takeaway"/>
          <p:cNvSpPr txBox="1"/>
          <p:nvPr/>
        </p:nvSpPr>
        <p:spPr>
          <a:xfrm>
            <a:off x="457200" y="3611880"/>
            <a:ext cx="3931920" cy="868680"/>
          </a:xfrm>
          <a:prstGeom prst="rect">
            <a:avLst/>
          </a:prstGeom>
          <a:noFill/>
          <a:ln/>
        </p:spPr>
        <p:txBody>
          <a:bodyPr wrap="square" lIns="0" tIns="0" rIns="0" bIns="0" rtlCol="0" anchor="t"/>
          <a:lstStyle/>
          <a:p>
            <a:pPr indent="0" marL="0">
              <a:buNone/>
            </a:pPr>
            <a:r>
              <a:rPr lang="en-US" sz="1400" b="1" dirty="0">
                <a:solidFill>
                  <a:srgbClr val="E8590C"/>
                </a:solidFill>
              </a:rPr>
              <a:t>5.8 times</a:t>
            </a:r>
            <a:pPr indent="0" marL="0">
              <a:buNone/>
            </a:pPr>
            <a:r>
              <a:rPr lang="en-US" sz="1400" dirty="0">
                <a:solidFill>
                  <a:schemeClr val="tx1"/>
                </a:solidFill>
              </a:rPr>
              <a:t> the defects in the highest-churn quartile (above about 400 changed lines), correlation 0.65, the strongest metric.</a:t>
            </a:r>
            <a:endParaRPr lang="en-US" sz="1400" dirty="0"/>
          </a:p>
        </p:txBody>
      </p:sp>
      <p:sp>
        <p:nvSpPr>
          <p:cNvPr id="6" name="Coverage takeaway"/>
          <p:cNvSpPr txBox="1"/>
          <p:nvPr/>
        </p:nvSpPr>
        <p:spPr>
          <a:xfrm>
            <a:off x="4754880" y="3611880"/>
            <a:ext cx="3931920" cy="868680"/>
          </a:xfrm>
          <a:prstGeom prst="rect">
            <a:avLst/>
          </a:prstGeom>
          <a:noFill/>
          <a:ln/>
        </p:spPr>
        <p:txBody>
          <a:bodyPr wrap="square" lIns="0" tIns="0" rIns="0" bIns="0" rtlCol="0" anchor="t"/>
          <a:lstStyle/>
          <a:p>
            <a:pPr indent="0" marL="0">
              <a:buNone/>
            </a:pPr>
            <a:r>
              <a:rPr lang="en-US" sz="1400" b="1" dirty="0">
                <a:solidFill>
                  <a:srgbClr val="E8590C"/>
                </a:solidFill>
              </a:rPr>
              <a:t>About 6 times</a:t>
            </a:r>
            <a:pPr indent="0" marL="0">
              <a:buNone/>
            </a:pPr>
            <a:r>
              <a:rPr lang="en-US" sz="1400" dirty="0">
                <a:solidFill>
                  <a:schemeClr val="tx1"/>
                </a:solidFill>
              </a:rPr>
              <a:t> the defects when coverage is up to 40% versus above 80%, correlation -0.39. The drop flattens above 60%.</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t"/>
          <a:lstStyle/>
          <a:p>
            <a:pPr algn="l" indent="0" marL="0">
              <a:buNone/>
            </a:pPr>
            <a:r>
              <a:rPr lang="en-US" sz="2800" b="1" dirty="0">
                <a:solidFill>
                  <a:schemeClr val="tx2"/>
                </a:solidFill>
              </a:rPr>
              <a:t>Complexity matters; headcount tracks churn</a:t>
            </a:r>
            <a:endParaRPr lang="en-US" sz="2800" dirty="0"/>
          </a:p>
        </p:txBody>
      </p:sp>
      <p:graphicFrame>
        <p:nvGraphicFramePr>
          <p:cNvPr id="3" name="Chart 0" descr=""/>
          <p:cNvGraphicFramePr/>
          <p:nvPr/>
        </p:nvGraphicFramePr>
        <p:xfrm>
          <a:off x="365760" y="1097280"/>
          <a:ext cx="4754880" cy="3429000"/>
        </p:xfrm>
        <a:graphic xmlns:a="http://schemas.openxmlformats.org/drawingml/2006/main">
          <a:graphicData uri="http://schemas.openxmlformats.org/drawingml/2006/chart">
            <c:chart xmlns:c="http://schemas.openxmlformats.org/drawingml/2006/chart" r:id="rId1"/>
          </a:graphicData>
        </a:graphic>
      </p:graphicFrame>
      <p:sp>
        <p:nvSpPr>
          <p:cNvPr id="4" name="Metric takeaway 1"/>
          <p:cNvSpPr txBox="1"/>
          <p:nvPr/>
        </p:nvSpPr>
        <p:spPr>
          <a:xfrm>
            <a:off x="5394960" y="1188720"/>
            <a:ext cx="3291840" cy="1005840"/>
          </a:xfrm>
          <a:prstGeom prst="rect">
            <a:avLst/>
          </a:prstGeom>
          <a:noFill/>
          <a:ln/>
        </p:spPr>
        <p:txBody>
          <a:bodyPr wrap="square" lIns="0" tIns="0" rIns="0" bIns="0" rtlCol="0" anchor="t"/>
          <a:lstStyle/>
          <a:p>
            <a:pPr indent="0" marL="0">
              <a:buNone/>
            </a:pPr>
            <a:r>
              <a:rPr lang="en-US" sz="1400" b="1" dirty="0">
                <a:solidFill>
                  <a:schemeClr val="accent2"/>
                </a:solidFill>
              </a:rPr>
              <a:t>Complexity: </a:t>
            </a:r>
            <a:pPr indent="0" marL="0">
              <a:buNone/>
            </a:pPr>
            <a:r>
              <a:rPr lang="en-US" sz="1400" dirty="0">
                <a:solidFill>
                  <a:schemeClr val="tx1"/>
                </a:solidFill>
              </a:rPr>
              <a:t>defects stay low in the lower half and rise at the top. The most complex quartile averages 2.27 defects per release, 3 times the lowest (0.76).</a:t>
            </a:r>
            <a:endParaRPr lang="en-US" sz="1400" dirty="0"/>
          </a:p>
        </p:txBody>
      </p:sp>
      <p:sp>
        <p:nvSpPr>
          <p:cNvPr id="5" name="Metric takeaway 2"/>
          <p:cNvSpPr txBox="1"/>
          <p:nvPr/>
        </p:nvSpPr>
        <p:spPr>
          <a:xfrm>
            <a:off x="5394960" y="2267712"/>
            <a:ext cx="3291840" cy="1005840"/>
          </a:xfrm>
          <a:prstGeom prst="rect">
            <a:avLst/>
          </a:prstGeom>
          <a:noFill/>
          <a:ln/>
        </p:spPr>
        <p:txBody>
          <a:bodyPr wrap="square" lIns="0" tIns="0" rIns="0" bIns="0" rtlCol="0" anchor="t"/>
          <a:lstStyle/>
          <a:p>
            <a:pPr indent="0" marL="0">
              <a:buNone/>
            </a:pPr>
            <a:r>
              <a:rPr lang="en-US" sz="1400" b="1" dirty="0">
                <a:solidFill>
                  <a:schemeClr val="accent2"/>
                </a:solidFill>
              </a:rPr>
              <a:t>Contributors: </a:t>
            </a:r>
            <a:pPr indent="0" marL="0">
              <a:buNone/>
            </a:pPr>
            <a:r>
              <a:rPr lang="en-US" sz="1400" dirty="0">
                <a:solidFill>
                  <a:schemeClr val="tx1"/>
                </a:solidFill>
              </a:rPr>
              <a:t>defects rise with team size (0.51), but contributors move with commits (0.88) and churn (0.79). Once churn is in the model, headcount adds nothing.</a:t>
            </a:r>
            <a:endParaRPr lang="en-US" sz="1400" dirty="0"/>
          </a:p>
        </p:txBody>
      </p:sp>
      <p:sp>
        <p:nvSpPr>
          <p:cNvPr id="6" name="Metric takeaway 3"/>
          <p:cNvSpPr txBox="1"/>
          <p:nvPr/>
        </p:nvSpPr>
        <p:spPr>
          <a:xfrm>
            <a:off x="5394960" y="3346704"/>
            <a:ext cx="3291840" cy="1005840"/>
          </a:xfrm>
          <a:prstGeom prst="rect">
            <a:avLst/>
          </a:prstGeom>
          <a:noFill/>
          <a:ln/>
        </p:spPr>
        <p:txBody>
          <a:bodyPr wrap="square" lIns="0" tIns="0" rIns="0" bIns="0" rtlCol="0" anchor="t"/>
          <a:lstStyle/>
          <a:p>
            <a:pPr indent="0" marL="0">
              <a:buNone/>
            </a:pPr>
            <a:r>
              <a:rPr lang="en-US" sz="1400" b="1" dirty="0">
                <a:solidFill>
                  <a:schemeClr val="accent2"/>
                </a:solidFill>
              </a:rPr>
              <a:t>Size alone </a:t>
            </a:r>
            <a:pPr indent="0" marL="0">
              <a:buNone/>
            </a:pPr>
            <a:r>
              <a:rPr lang="en-US" sz="1400" dirty="0">
                <a:solidFill>
                  <a:schemeClr val="tx1"/>
                </a:solidFill>
              </a:rPr>
              <a:t>is a weak signal (0.24): big modules are not automatically the buggy ones.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t"/>
          <a:lstStyle/>
          <a:p>
            <a:pPr algn="l" indent="0" marL="0">
              <a:buNone/>
            </a:pPr>
            <a:r>
              <a:rPr lang="en-US" sz="2800" b="1" dirty="0">
                <a:solidFill>
                  <a:schemeClr val="tx2"/>
                </a:solidFill>
              </a:rPr>
              <a:t>Defects keep coming back in 16 modules</a:t>
            </a:r>
            <a:endParaRPr lang="en-US" sz="2800" dirty="0"/>
          </a:p>
        </p:txBody>
      </p:sp>
      <p:graphicFrame>
        <p:nvGraphicFramePr>
          <p:cNvPr id="3" name="Chart 0" descr=""/>
          <p:cNvGraphicFramePr/>
          <p:nvPr/>
        </p:nvGraphicFramePr>
        <p:xfrm>
          <a:off x="365760" y="109728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Repeat modules value"/>
          <p:cNvSpPr txBox="1"/>
          <p:nvPr/>
        </p:nvSpPr>
        <p:spPr>
          <a:xfrm>
            <a:off x="5760720" y="1143000"/>
            <a:ext cx="2926080" cy="640080"/>
          </a:xfrm>
          <a:prstGeom prst="rect">
            <a:avLst/>
          </a:prstGeom>
          <a:noFill/>
          <a:ln/>
        </p:spPr>
        <p:txBody>
          <a:bodyPr wrap="square" lIns="0" tIns="0" rIns="0" bIns="0" rtlCol="0" anchor="b"/>
          <a:lstStyle/>
          <a:p>
            <a:pPr indent="0" marL="0">
              <a:buNone/>
            </a:pPr>
            <a:r>
              <a:rPr lang="en-US" sz="3800" b="1" dirty="0">
                <a:solidFill>
                  <a:schemeClr val="accent1"/>
                </a:solidFill>
                <a:latin typeface="+mj-lt" pitchFamily="34" charset="0"/>
                <a:ea typeface="+mj-lt" pitchFamily="34" charset="-122"/>
                <a:cs typeface="+mj-lt" pitchFamily="34" charset="-120"/>
              </a:rPr>
              <a:t>16 of 47</a:t>
            </a:r>
            <a:endParaRPr lang="en-US" sz="3800" dirty="0"/>
          </a:p>
        </p:txBody>
      </p:sp>
      <p:sp>
        <p:nvSpPr>
          <p:cNvPr id="5" name="Repeat modules label"/>
          <p:cNvSpPr txBox="1"/>
          <p:nvPr/>
        </p:nvSpPr>
        <p:spPr>
          <a:xfrm>
            <a:off x="5760720" y="1801368"/>
            <a:ext cx="2926080" cy="566928"/>
          </a:xfrm>
          <a:prstGeom prst="rect">
            <a:avLst/>
          </a:prstGeom>
          <a:noFill/>
          <a:ln/>
        </p:spPr>
        <p:txBody>
          <a:bodyPr wrap="square" lIns="0" tIns="0" rIns="0" bIns="0" rtlCol="0" anchor="t"/>
          <a:lstStyle/>
          <a:p>
            <a:pPr indent="0" marL="0">
              <a:buNone/>
            </a:pPr>
            <a:r>
              <a:rPr lang="en-US" sz="1400" dirty="0">
                <a:solidFill>
                  <a:schemeClr val="tx1"/>
                </a:solidFill>
              </a:rPr>
              <a:t>modules had defects in 4 or more of 5 releases (UI 4, Database 3, Payments 3, Reporting 3, API 2, Auth 1)</a:t>
            </a:r>
            <a:endParaRPr lang="en-US" sz="1400" dirty="0"/>
          </a:p>
        </p:txBody>
      </p:sp>
      <p:sp>
        <p:nvSpPr>
          <p:cNvPr id="6" name="Trend bullets"/>
          <p:cNvSpPr txBox="1"/>
          <p:nvPr/>
        </p:nvSpPr>
        <p:spPr>
          <a:xfrm>
            <a:off x="5760720" y="2788920"/>
            <a:ext cx="29260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Total defects fell from 88 to 37, then rebounded to 57 in v3.0.</a:t>
            </a:r>
            <a:endParaRPr lang="en-US" sz="1400" dirty="0"/>
          </a:p>
          <a:p>
            <a:pPr marL="342900" indent="-342900">
              <a:spcAft>
                <a:spcPts val="600"/>
              </a:spcAft>
              <a:buSzPct val="100000"/>
              <a:buChar char="•"/>
            </a:pPr>
            <a:r>
              <a:rPr lang="en-US" sz="1400" dirty="0">
                <a:solidFill>
                  <a:schemeClr val="tx1"/>
                </a:solidFill>
              </a:rPr>
              <a:t>Reporting hit its high (12) and API jumped to 15 in v3.0.</a:t>
            </a:r>
            <a:endParaRPr lang="en-US" sz="1400" dirty="0"/>
          </a:p>
          <a:p>
            <a:pPr marL="342900" indent="-342900">
              <a:spcAft>
                <a:spcPts val="600"/>
              </a:spcAft>
              <a:buSzPct val="100000"/>
              <a:buChar char="•"/>
            </a:pPr>
            <a:r>
              <a:rPr lang="en-US" sz="1400" dirty="0">
                <a:solidFill>
                  <a:schemeClr val="tx1"/>
                </a:solidFill>
              </a:rPr>
              <a:t>Database is flat at 6 to 8 every release: a chronic source.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t"/>
          <a:lstStyle/>
          <a:p>
            <a:pPr algn="l" indent="0" marL="0">
              <a:buNone/>
            </a:pPr>
            <a:r>
              <a:rPr lang="en-US" sz="2800" b="1" dirty="0">
                <a:solidFill>
                  <a:schemeClr val="tx2"/>
                </a:solidFill>
              </a:rPr>
              <a:t>Eleven modules to fix first</a:t>
            </a:r>
            <a:endParaRPr lang="en-US" sz="2800" dirty="0"/>
          </a:p>
        </p:txBody>
      </p:sp>
      <p:sp>
        <p:nvSpPr>
          <p:cNvPr id="3" name="Action card 1"/>
          <p:cNvSpPr/>
          <p:nvPr/>
        </p:nvSpPr>
        <p:spPr>
          <a:xfrm>
            <a:off x="457200" y="1143000"/>
            <a:ext cx="2651760" cy="2240280"/>
          </a:xfrm>
          <a:prstGeom prst="roundRect">
            <a:avLst>
              <a:gd name="adj" fmla="val 3265"/>
            </a:avLst>
          </a:prstGeom>
          <a:solidFill>
            <a:schemeClr val="bg2"/>
          </a:solidFill>
          <a:ln/>
        </p:spPr>
      </p:sp>
      <p:sp>
        <p:nvSpPr>
          <p:cNvPr id="4" name="Action count marker 1"/>
          <p:cNvSpPr/>
          <p:nvPr/>
        </p:nvSpPr>
        <p:spPr>
          <a:xfrm>
            <a:off x="640080" y="1298448"/>
            <a:ext cx="457200" cy="457200"/>
          </a:xfrm>
          <a:prstGeom prst="ellipse">
            <a:avLst/>
          </a:prstGeom>
          <a:solidFill>
            <a:srgbClr val="E8590C"/>
          </a:solidFill>
          <a:ln/>
        </p:spPr>
      </p:sp>
      <p:sp>
        <p:nvSpPr>
          <p:cNvPr id="5" name="Action count 1"/>
          <p:cNvSpPr txBox="1"/>
          <p:nvPr/>
        </p:nvSpPr>
        <p:spPr>
          <a:xfrm>
            <a:off x="640080" y="12984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6" name="Action title 1"/>
          <p:cNvSpPr txBox="1"/>
          <p:nvPr/>
        </p:nvSpPr>
        <p:spPr>
          <a:xfrm>
            <a:off x="1207008" y="1298448"/>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Code review + more tests</a:t>
            </a:r>
            <a:endParaRPr lang="en-US" sz="1400" dirty="0"/>
          </a:p>
        </p:txBody>
      </p:sp>
      <p:sp>
        <p:nvSpPr>
          <p:cNvPr id="7" name="Action modules 1"/>
          <p:cNvSpPr txBox="1"/>
          <p:nvPr/>
        </p:nvSpPr>
        <p:spPr>
          <a:xfrm>
            <a:off x="640080" y="1874520"/>
            <a:ext cx="2377440" cy="141732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payments_fraud</a:t>
            </a:r>
            <a:endParaRPr lang="en-US" sz="1400" dirty="0"/>
          </a:p>
          <a:p>
            <a:pPr indent="0" marL="0">
              <a:spcAft>
                <a:spcPts val="300"/>
              </a:spcAft>
              <a:buNone/>
            </a:pPr>
            <a:r>
              <a:rPr lang="en-US" sz="1400" dirty="0">
                <a:solidFill>
                  <a:schemeClr val="tx1"/>
                </a:solidFill>
              </a:rPr>
              <a:t>ui_themes</a:t>
            </a:r>
            <a:endParaRPr lang="en-US" sz="1400" dirty="0"/>
          </a:p>
          <a:p>
            <a:pPr indent="0" marL="0">
              <a:spcAft>
                <a:spcPts val="300"/>
              </a:spcAft>
              <a:buNone/>
            </a:pPr>
            <a:r>
              <a:rPr lang="en-US" sz="1400" dirty="0">
                <a:solidFill>
                  <a:schemeClr val="tx1"/>
                </a:solidFill>
              </a:rPr>
              <a:t>api_gateway</a:t>
            </a:r>
            <a:endParaRPr lang="en-US" sz="1400" dirty="0"/>
          </a:p>
          <a:p>
            <a:pPr indent="0" marL="0">
              <a:spcAft>
                <a:spcPts val="300"/>
              </a:spcAft>
              <a:buNone/>
            </a:pPr>
            <a:r>
              <a:rPr lang="en-US" sz="1400" dirty="0">
                <a:solidFill>
                  <a:schemeClr val="tx1"/>
                </a:solidFill>
              </a:rPr>
              <a:t>ui_notifications</a:t>
            </a:r>
            <a:endParaRPr lang="en-US" sz="1400" dirty="0"/>
          </a:p>
        </p:txBody>
      </p:sp>
      <p:sp>
        <p:nvSpPr>
          <p:cNvPr id="8" name="Action card 2"/>
          <p:cNvSpPr/>
          <p:nvPr/>
        </p:nvSpPr>
        <p:spPr>
          <a:xfrm>
            <a:off x="3246120" y="1143000"/>
            <a:ext cx="2651760" cy="2240280"/>
          </a:xfrm>
          <a:prstGeom prst="roundRect">
            <a:avLst>
              <a:gd name="adj" fmla="val 3265"/>
            </a:avLst>
          </a:prstGeom>
          <a:solidFill>
            <a:schemeClr val="bg2"/>
          </a:solidFill>
          <a:ln/>
        </p:spPr>
      </p:sp>
      <p:sp>
        <p:nvSpPr>
          <p:cNvPr id="9" name="Action count marker 2"/>
          <p:cNvSpPr/>
          <p:nvPr/>
        </p:nvSpPr>
        <p:spPr>
          <a:xfrm>
            <a:off x="3429000" y="1298448"/>
            <a:ext cx="457200" cy="457200"/>
          </a:xfrm>
          <a:prstGeom prst="ellipse">
            <a:avLst/>
          </a:prstGeom>
          <a:solidFill>
            <a:srgbClr val="F2B134"/>
          </a:solidFill>
          <a:ln/>
        </p:spPr>
      </p:sp>
      <p:sp>
        <p:nvSpPr>
          <p:cNvPr id="10" name="Action count 2"/>
          <p:cNvSpPr txBox="1"/>
          <p:nvPr/>
        </p:nvSpPr>
        <p:spPr>
          <a:xfrm>
            <a:off x="3429000" y="1298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Action title 2"/>
          <p:cNvSpPr txBox="1"/>
          <p:nvPr/>
        </p:nvSpPr>
        <p:spPr>
          <a:xfrm>
            <a:off x="3995928" y="1298448"/>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Priority code review</a:t>
            </a:r>
            <a:endParaRPr lang="en-US" sz="1400" dirty="0"/>
          </a:p>
        </p:txBody>
      </p:sp>
      <p:sp>
        <p:nvSpPr>
          <p:cNvPr id="12" name="Action modules 2"/>
          <p:cNvSpPr txBox="1"/>
          <p:nvPr/>
        </p:nvSpPr>
        <p:spPr>
          <a:xfrm>
            <a:off x="3429000" y="1874520"/>
            <a:ext cx="2377440" cy="141732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reporting_audit_logs</a:t>
            </a:r>
            <a:endParaRPr lang="en-US" sz="1400" dirty="0"/>
          </a:p>
          <a:p>
            <a:pPr indent="0" marL="0">
              <a:spcAft>
                <a:spcPts val="300"/>
              </a:spcAft>
              <a:buNone/>
            </a:pPr>
            <a:r>
              <a:rPr lang="en-US" sz="1400" dirty="0">
                <a:solidFill>
                  <a:schemeClr val="tx1"/>
                </a:solidFill>
              </a:rPr>
              <a:t>reporting_export</a:t>
            </a:r>
            <a:endParaRPr lang="en-US" sz="1400" dirty="0"/>
          </a:p>
        </p:txBody>
      </p:sp>
      <p:sp>
        <p:nvSpPr>
          <p:cNvPr id="13" name="Action card 3"/>
          <p:cNvSpPr/>
          <p:nvPr/>
        </p:nvSpPr>
        <p:spPr>
          <a:xfrm>
            <a:off x="6035040" y="1143000"/>
            <a:ext cx="2651760" cy="2240280"/>
          </a:xfrm>
          <a:prstGeom prst="roundRect">
            <a:avLst>
              <a:gd name="adj" fmla="val 3265"/>
            </a:avLst>
          </a:prstGeom>
          <a:solidFill>
            <a:schemeClr val="bg2"/>
          </a:solidFill>
          <a:ln/>
        </p:spPr>
      </p:sp>
      <p:sp>
        <p:nvSpPr>
          <p:cNvPr id="14" name="Action count marker 3"/>
          <p:cNvSpPr/>
          <p:nvPr/>
        </p:nvSpPr>
        <p:spPr>
          <a:xfrm>
            <a:off x="6217920" y="1298448"/>
            <a:ext cx="457200" cy="457200"/>
          </a:xfrm>
          <a:prstGeom prst="ellipse">
            <a:avLst/>
          </a:prstGeom>
          <a:solidFill>
            <a:srgbClr val="2F7D9A"/>
          </a:solidFill>
          <a:ln/>
        </p:spPr>
      </p:sp>
      <p:sp>
        <p:nvSpPr>
          <p:cNvPr id="15" name="Action count 3"/>
          <p:cNvSpPr txBox="1"/>
          <p:nvPr/>
        </p:nvSpPr>
        <p:spPr>
          <a:xfrm>
            <a:off x="6217920" y="12984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6" name="Action title 3"/>
          <p:cNvSpPr txBox="1"/>
          <p:nvPr/>
        </p:nvSpPr>
        <p:spPr>
          <a:xfrm>
            <a:off x="6784848" y="1298448"/>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Add tests</a:t>
            </a:r>
            <a:endParaRPr lang="en-US" sz="1400" dirty="0"/>
          </a:p>
        </p:txBody>
      </p:sp>
      <p:sp>
        <p:nvSpPr>
          <p:cNvPr id="17" name="Action modules 3"/>
          <p:cNvSpPr txBox="1"/>
          <p:nvPr/>
        </p:nvSpPr>
        <p:spPr>
          <a:xfrm>
            <a:off x="6217920" y="1874520"/>
            <a:ext cx="2377440" cy="141732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reporting_scheduler</a:t>
            </a:r>
            <a:endParaRPr lang="en-US" sz="1400" dirty="0"/>
          </a:p>
          <a:p>
            <a:pPr indent="0" marL="0">
              <a:spcAft>
                <a:spcPts val="300"/>
              </a:spcAft>
              <a:buNone/>
            </a:pPr>
            <a:r>
              <a:rPr lang="en-US" sz="1400" dirty="0">
                <a:solidFill>
                  <a:schemeClr val="tx1"/>
                </a:solidFill>
              </a:rPr>
              <a:t>api_webhooks</a:t>
            </a:r>
            <a:endParaRPr lang="en-US" sz="1400" dirty="0"/>
          </a:p>
          <a:p>
            <a:pPr indent="0" marL="0">
              <a:spcAft>
                <a:spcPts val="300"/>
              </a:spcAft>
              <a:buNone/>
            </a:pPr>
            <a:r>
              <a:rPr lang="en-US" sz="1400" dirty="0">
                <a:solidFill>
                  <a:schemeClr val="tx1"/>
                </a:solidFill>
              </a:rPr>
              <a:t>auth_session</a:t>
            </a:r>
            <a:endParaRPr lang="en-US" sz="1400" dirty="0"/>
          </a:p>
          <a:p>
            <a:pPr indent="0" marL="0">
              <a:spcAft>
                <a:spcPts val="300"/>
              </a:spcAft>
              <a:buNone/>
            </a:pPr>
            <a:r>
              <a:rPr lang="en-US" sz="1400" dirty="0">
                <a:solidFill>
                  <a:schemeClr val="tx1"/>
                </a:solidFill>
              </a:rPr>
              <a:t>ui_charts</a:t>
            </a:r>
            <a:endParaRPr lang="en-US" sz="1400" dirty="0"/>
          </a:p>
          <a:p>
            <a:pPr indent="0" marL="0">
              <a:spcAft>
                <a:spcPts val="300"/>
              </a:spcAft>
              <a:buNone/>
            </a:pPr>
            <a:r>
              <a:rPr lang="en-US" sz="1400" dirty="0">
                <a:solidFill>
                  <a:schemeClr val="tx1"/>
                </a:solidFill>
              </a:rPr>
              <a:t>database_migration</a:t>
            </a:r>
            <a:endParaRPr lang="en-US" sz="1400" dirty="0"/>
          </a:p>
        </p:txBody>
      </p:sp>
      <p:sp>
        <p:nvSpPr>
          <p:cNvPr id="18" name="Tier rule"/>
          <p:cNvSpPr txBox="1"/>
          <p:nvPr/>
        </p:nvSpPr>
        <p:spPr>
          <a:xfrm>
            <a:off x="457200" y="3566160"/>
            <a:ext cx="8229600" cy="502920"/>
          </a:xfrm>
          <a:prstGeom prst="rect">
            <a:avLst/>
          </a:prstGeom>
          <a:noFill/>
          <a:ln/>
        </p:spPr>
        <p:txBody>
          <a:bodyPr wrap="square" lIns="0" tIns="0" rIns="0" bIns="0" rtlCol="0" anchor="t"/>
          <a:lstStyle/>
          <a:p>
            <a:pPr indent="0" marL="0">
              <a:buNone/>
            </a:pPr>
            <a:r>
              <a:rPr lang="en-US" sz="1400" b="1" dirty="0">
                <a:solidFill>
                  <a:schemeClr val="tx1"/>
                </a:solidFill>
              </a:rPr>
              <a:t>Tier 1 = </a:t>
            </a:r>
            <a:pPr indent="0" marL="0">
              <a:buNone/>
            </a:pPr>
            <a:r>
              <a:rPr lang="en-US" sz="1400" dirty="0">
                <a:solidFill>
                  <a:schemeClr val="tx1"/>
                </a:solidFill>
              </a:rPr>
              <a:t>defects in 4 or more of 5 releases, plus churn above about 400 changed lines and/or coverage below 60%. 9 of the 11 are below 60% coverage. Tier 2: 13 modules to watch. Tier 3: 23 to monitor.</a:t>
            </a:r>
            <a:endParaRPr lang="en-US" sz="1400" dirty="0"/>
          </a:p>
        </p:txBody>
      </p:sp>
      <p:sp>
        <p:nvSpPr>
          <p:cNvPr id="19" name="Model note"/>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200" dirty="0">
                <a:solidFill>
                  <a:schemeClr val="accent3"/>
                </a:solidFill>
              </a:rPr>
              <a:t>Model behind the ranking: a Random Forest on churn, complexity, coupling and coverage, tested on modules it never saw: R-squared 0.35, ROC-AUC 0.80, catches 75% of high-defect releases. Good for ranking, not for exact counts.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t"/>
          <a:lstStyle/>
          <a:p>
            <a:pPr algn="l" indent="0" marL="0">
              <a:buNone/>
            </a:pPr>
            <a:r>
              <a:rPr lang="en-US" sz="2800" b="1" dirty="0">
                <a:solidFill>
                  <a:schemeClr val="bg1"/>
                </a:solidFill>
              </a:rPr>
              <a:t>Three actions for the next release</a:t>
            </a:r>
            <a:endParaRPr lang="en-US" sz="2800" dirty="0"/>
          </a:p>
        </p:txBody>
      </p:sp>
      <p:sp>
        <p:nvSpPr>
          <p:cNvPr id="3" name="Recommendation marker 1"/>
          <p:cNvSpPr/>
          <p:nvPr/>
        </p:nvSpPr>
        <p:spPr>
          <a:xfrm>
            <a:off x="457200" y="1188720"/>
            <a:ext cx="548640" cy="548640"/>
          </a:xfrm>
          <a:prstGeom prst="ellipse">
            <a:avLst/>
          </a:prstGeom>
          <a:solidFill>
            <a:schemeClr val="accent1"/>
          </a:solidFill>
          <a:ln/>
        </p:spPr>
      </p:sp>
      <p:sp>
        <p:nvSpPr>
          <p:cNvPr id="4" name="Recommendation number 1"/>
          <p:cNvSpPr txBox="1"/>
          <p:nvPr/>
        </p:nvSpPr>
        <p:spPr>
          <a:xfrm>
            <a:off x="457200" y="11887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5" name="Recommendation title 1"/>
          <p:cNvSpPr txBox="1"/>
          <p:nvPr/>
        </p:nvSpPr>
        <p:spPr>
          <a:xfrm>
            <a:off x="1234440" y="1143000"/>
            <a:ext cx="7406640" cy="347472"/>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Review the 11 Tier 1 modules first</a:t>
            </a:r>
            <a:endParaRPr lang="en-US" sz="1800" dirty="0"/>
          </a:p>
        </p:txBody>
      </p:sp>
      <p:sp>
        <p:nvSpPr>
          <p:cNvPr id="6" name="Recommendation detail 1"/>
          <p:cNvSpPr txBox="1"/>
          <p:nvPr/>
        </p:nvSpPr>
        <p:spPr>
          <a:xfrm>
            <a:off x="1234440" y="1508760"/>
            <a:ext cx="7406640" cy="566928"/>
          </a:xfrm>
          <a:prstGeom prst="rect">
            <a:avLst/>
          </a:prstGeom>
          <a:noFill/>
          <a:ln/>
        </p:spPr>
        <p:txBody>
          <a:bodyPr wrap="square" lIns="0" tIns="0" rIns="0" bIns="0" rtlCol="0" anchor="t"/>
          <a:lstStyle/>
          <a:p>
            <a:pPr indent="0" marL="0">
              <a:buNone/>
            </a:pPr>
            <a:r>
              <a:rPr lang="en-US" sz="1400" dirty="0">
                <a:solidFill>
                  <a:schemeClr val="bg2"/>
                </a:solidFill>
              </a:rPr>
              <a:t>Make code review mandatory and raise test coverage to at least 60%; 9 of the 11 are below it today.</a:t>
            </a:r>
            <a:endParaRPr lang="en-US" sz="1400" dirty="0"/>
          </a:p>
        </p:txBody>
      </p:sp>
      <p:sp>
        <p:nvSpPr>
          <p:cNvPr id="7" name="Recommendation marker 2"/>
          <p:cNvSpPr/>
          <p:nvPr/>
        </p:nvSpPr>
        <p:spPr>
          <a:xfrm>
            <a:off x="457200" y="2212848"/>
            <a:ext cx="548640" cy="548640"/>
          </a:xfrm>
          <a:prstGeom prst="ellipse">
            <a:avLst/>
          </a:prstGeom>
          <a:solidFill>
            <a:schemeClr val="accent1"/>
          </a:solidFill>
          <a:ln/>
        </p:spPr>
      </p:sp>
      <p:sp>
        <p:nvSpPr>
          <p:cNvPr id="8" name="Recommendation number 2"/>
          <p:cNvSpPr txBox="1"/>
          <p:nvPr/>
        </p:nvSpPr>
        <p:spPr>
          <a:xfrm>
            <a:off x="457200" y="221284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9" name="Recommendation title 2"/>
          <p:cNvSpPr txBox="1"/>
          <p:nvPr/>
        </p:nvSpPr>
        <p:spPr>
          <a:xfrm>
            <a:off x="1234440" y="2167128"/>
            <a:ext cx="7406640" cy="347472"/>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Add a churn trigger</a:t>
            </a:r>
            <a:endParaRPr lang="en-US" sz="1800" dirty="0"/>
          </a:p>
        </p:txBody>
      </p:sp>
      <p:sp>
        <p:nvSpPr>
          <p:cNvPr id="10" name="Recommendation detail 2"/>
          <p:cNvSpPr txBox="1"/>
          <p:nvPr/>
        </p:nvSpPr>
        <p:spPr>
          <a:xfrm>
            <a:off x="1234440" y="2532888"/>
            <a:ext cx="7406640" cy="566928"/>
          </a:xfrm>
          <a:prstGeom prst="rect">
            <a:avLst/>
          </a:prstGeom>
          <a:noFill/>
          <a:ln/>
        </p:spPr>
        <p:txBody>
          <a:bodyPr wrap="square" lIns="0" tIns="0" rIns="0" bIns="0" rtlCol="0" anchor="t"/>
          <a:lstStyle/>
          <a:p>
            <a:pPr indent="0" marL="0">
              <a:buNone/>
            </a:pPr>
            <a:r>
              <a:rPr lang="en-US" sz="1400" dirty="0">
                <a:solidFill>
                  <a:schemeClr val="bg2"/>
                </a:solidFill>
              </a:rPr>
              <a:t>Review any module that passes about 400 changed lines in a release, even if coverage looks healthy: api_docs had 1,162 lines, 87% coverage and 4 defects in v3.0.</a:t>
            </a:r>
            <a:endParaRPr lang="en-US" sz="1400" dirty="0"/>
          </a:p>
        </p:txBody>
      </p:sp>
      <p:sp>
        <p:nvSpPr>
          <p:cNvPr id="11" name="Recommendation marker 3"/>
          <p:cNvSpPr/>
          <p:nvPr/>
        </p:nvSpPr>
        <p:spPr>
          <a:xfrm>
            <a:off x="457200" y="3236976"/>
            <a:ext cx="548640" cy="548640"/>
          </a:xfrm>
          <a:prstGeom prst="ellipse">
            <a:avLst/>
          </a:prstGeom>
          <a:solidFill>
            <a:schemeClr val="accent1"/>
          </a:solidFill>
          <a:ln/>
        </p:spPr>
      </p:sp>
      <p:sp>
        <p:nvSpPr>
          <p:cNvPr id="12" name="Recommendation number 3"/>
          <p:cNvSpPr txBox="1"/>
          <p:nvPr/>
        </p:nvSpPr>
        <p:spPr>
          <a:xfrm>
            <a:off x="457200" y="323697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3" name="Recommendation title 3"/>
          <p:cNvSpPr txBox="1"/>
          <p:nvPr/>
        </p:nvSpPr>
        <p:spPr>
          <a:xfrm>
            <a:off x="1234440" y="3191256"/>
            <a:ext cx="7406640" cy="347472"/>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Track the 16 repeat modules every release</a:t>
            </a:r>
            <a:endParaRPr lang="en-US" sz="1800" dirty="0"/>
          </a:p>
        </p:txBody>
      </p:sp>
      <p:sp>
        <p:nvSpPr>
          <p:cNvPr id="14" name="Recommendation detail 3"/>
          <p:cNvSpPr txBox="1"/>
          <p:nvPr/>
        </p:nvSpPr>
        <p:spPr>
          <a:xfrm>
            <a:off x="1234440" y="3557016"/>
            <a:ext cx="7406640" cy="566928"/>
          </a:xfrm>
          <a:prstGeom prst="rect">
            <a:avLst/>
          </a:prstGeom>
          <a:noFill/>
          <a:ln/>
        </p:spPr>
        <p:txBody>
          <a:bodyPr wrap="square" lIns="0" tIns="0" rIns="0" bIns="0" rtlCol="0" anchor="t"/>
          <a:lstStyle/>
          <a:p>
            <a:pPr indent="0" marL="0">
              <a:buNone/>
            </a:pPr>
            <a:r>
              <a:rPr lang="en-US" sz="1400" dirty="0">
                <a:solidFill>
                  <a:schemeClr val="bg2"/>
                </a:solidFill>
              </a:rPr>
              <a:t>Watch the Reporting and API rebound, and plan a systematic quality fix for Database, which stays at 6 to 8 defects every release.</a:t>
            </a:r>
            <a:endParaRPr lang="en-US" sz="1400" dirty="0"/>
          </a:p>
        </p:txBody>
      </p:sp>
      <p:sp>
        <p:nvSpPr>
          <p:cNvPr id="15" name="Caveats"/>
          <p:cNvSpPr txBox="1"/>
          <p:nvPr/>
        </p:nvSpPr>
        <p:spPr>
          <a:xfrm>
            <a:off x="457200" y="4343400"/>
            <a:ext cx="7772400" cy="411480"/>
          </a:xfrm>
          <a:prstGeom prst="rect">
            <a:avLst/>
          </a:prstGeom>
          <a:noFill/>
          <a:ln/>
        </p:spPr>
        <p:txBody>
          <a:bodyPr wrap="square" lIns="0" tIns="0" rIns="0" bIns="0" rtlCol="0" anchor="t"/>
          <a:lstStyle/>
          <a:p>
            <a:pPr indent="0" marL="0">
              <a:buNone/>
            </a:pPr>
            <a:r>
              <a:rPr lang="en-US" sz="1200" dirty="0">
                <a:solidFill>
                  <a:schemeClr val="accent3"/>
                </a:solidFill>
              </a:rPr>
              <a:t>Caveats: the data is synthetic and the findings are associations, not proof of cause. Model fit is moderate, so use it to rank modules and re-score after each release.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CodeMetric Quality">
  <a:themeElements>
    <a:clrScheme name="CodeMetric Quality">
      <a:dk1>
        <a:srgbClr val="1B2430"/>
      </a:dk1>
      <a:lt1>
        <a:srgbClr val="FFFFFF"/>
      </a:lt1>
      <a:dk2>
        <a:srgbClr val="1F2D3D"/>
      </a:dk2>
      <a:lt2>
        <a:srgbClr val="F2F5F8"/>
      </a:lt2>
      <a:accent1>
        <a:srgbClr val="E8590C"/>
      </a:accent1>
      <a:accent2>
        <a:srgbClr val="2F7D9A"/>
      </a:accent2>
      <a:accent3>
        <a:srgbClr val="8A99A8"/>
      </a:accent3>
      <a:accent4>
        <a:srgbClr val="F2B134"/>
      </a:accent4>
      <a:accent5>
        <a:srgbClr val="3C9D6B"/>
      </a:accent5>
      <a:accent6>
        <a:srgbClr val="6C5B7B"/>
      </a:accent6>
      <a:hlink>
        <a:srgbClr val="2F7D9A"/>
      </a:hlink>
      <a:folHlink>
        <a:srgbClr val="6C5B7B"/>
      </a:folHlink>
    </a:clrScheme>
    <a:fontScheme name="CodeMetric Qual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CH28 Software Quality Insight: review and testing priorities</dc:title>
  <dc:subject>PptxGenJS Presentation</dc:subject>
  <dc:creator>Niket Kumar</dc:creator>
  <cp:lastModifiedBy>Niket Kumar</cp:lastModifiedBy>
  <cp:revision>1</cp:revision>
  <dcterms:created xsi:type="dcterms:W3CDTF">2026-10-12T09:34:35Z</dcterms:created>
  <dcterms:modified xsi:type="dcterms:W3CDTF">2026-10-12T09:34:35Z</dcterms:modified>
</cp:coreProperties>
</file>